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DM Sans" pitchFamily="2" charset="0"/>
      <p:regular r:id="rId18"/>
      <p:bold r:id="rId19"/>
    </p:embeddedFont>
    <p:embeddedFont>
      <p:font typeface="DM Sans Bold" charset="0"/>
      <p:regular r:id="rId20"/>
    </p:embeddedFont>
    <p:embeddedFont>
      <p:font typeface="DM Sans Bold Italics" panose="020B0604020202020204" charset="0"/>
      <p:regular r:id="rId21"/>
    </p:embeddedFont>
    <p:embeddedFont>
      <p:font typeface="DM Sans Italics" panose="020B0604020202020204" charset="0"/>
      <p:regular r:id="rId22"/>
    </p:embeddedFont>
    <p:embeddedFont>
      <p:font typeface="Montserrat Bold" panose="020B0604020202020204" charset="0"/>
      <p:regular r:id="rId23"/>
    </p:embeddedFont>
    <p:embeddedFont>
      <p:font typeface="Now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2" d="100"/>
          <a:sy n="52" d="100"/>
        </p:scale>
        <p:origin x="142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6.svg"/><Relationship Id="rId5" Type="http://schemas.openxmlformats.org/officeDocument/2006/relationships/image" Target="../media/image20.svg"/><Relationship Id="rId10" Type="http://schemas.openxmlformats.org/officeDocument/2006/relationships/image" Target="../media/image5.png"/><Relationship Id="rId4" Type="http://schemas.openxmlformats.org/officeDocument/2006/relationships/image" Target="../media/image19.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9" Type="http://schemas.openxmlformats.org/officeDocument/2006/relationships/image" Target="../media/image41.sv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slides/_rels/slide1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BFB"/>
        </a:solidFill>
        <a:effectLst/>
      </p:bgPr>
    </p:bg>
    <p:spTree>
      <p:nvGrpSpPr>
        <p:cNvPr id="1" name=""/>
        <p:cNvGrpSpPr/>
        <p:nvPr/>
      </p:nvGrpSpPr>
      <p:grpSpPr>
        <a:xfrm>
          <a:off x="0" y="0"/>
          <a:ext cx="0" cy="0"/>
          <a:chOff x="0" y="0"/>
          <a:chExt cx="0" cy="0"/>
        </a:xfrm>
      </p:grpSpPr>
      <p:sp>
        <p:nvSpPr>
          <p:cNvPr id="2" name="Freeform 2"/>
          <p:cNvSpPr/>
          <p:nvPr/>
        </p:nvSpPr>
        <p:spPr>
          <a:xfrm>
            <a:off x="6497349" y="7956317"/>
            <a:ext cx="2330683" cy="2330683"/>
          </a:xfrm>
          <a:custGeom>
            <a:avLst/>
            <a:gdLst/>
            <a:ahLst/>
            <a:cxnLst/>
            <a:rect l="l" t="t" r="r" b="b"/>
            <a:pathLst>
              <a:path w="2330683" h="2330683">
                <a:moveTo>
                  <a:pt x="0" y="0"/>
                </a:moveTo>
                <a:lnTo>
                  <a:pt x="2330683" y="0"/>
                </a:lnTo>
                <a:lnTo>
                  <a:pt x="2330683" y="2330683"/>
                </a:lnTo>
                <a:lnTo>
                  <a:pt x="0" y="2330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95175" y="8630507"/>
            <a:ext cx="2647750" cy="2647750"/>
          </a:xfrm>
          <a:custGeom>
            <a:avLst/>
            <a:gdLst/>
            <a:ahLst/>
            <a:cxnLst/>
            <a:rect l="l" t="t" r="r" b="b"/>
            <a:pathLst>
              <a:path w="2647750" h="2647750">
                <a:moveTo>
                  <a:pt x="0" y="0"/>
                </a:moveTo>
                <a:lnTo>
                  <a:pt x="2647750" y="0"/>
                </a:lnTo>
                <a:lnTo>
                  <a:pt x="2647750" y="2647751"/>
                </a:lnTo>
                <a:lnTo>
                  <a:pt x="0" y="264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857377" y="0"/>
            <a:ext cx="8152076" cy="10166284"/>
          </a:xfrm>
          <a:custGeom>
            <a:avLst/>
            <a:gdLst/>
            <a:ahLst/>
            <a:cxnLst/>
            <a:rect l="l" t="t" r="r" b="b"/>
            <a:pathLst>
              <a:path w="8152076" h="10166284">
                <a:moveTo>
                  <a:pt x="0" y="0"/>
                </a:moveTo>
                <a:lnTo>
                  <a:pt x="8152076" y="0"/>
                </a:lnTo>
                <a:lnTo>
                  <a:pt x="8152076" y="10166284"/>
                </a:lnTo>
                <a:lnTo>
                  <a:pt x="0" y="10166284"/>
                </a:lnTo>
                <a:lnTo>
                  <a:pt x="0" y="0"/>
                </a:lnTo>
                <a:close/>
              </a:path>
            </a:pathLst>
          </a:custGeom>
          <a:blipFill>
            <a:blip r:embed="rId4"/>
            <a:stretch>
              <a:fillRect l="-35924" r="-30352"/>
            </a:stretch>
          </a:blipFill>
        </p:spPr>
      </p:sp>
      <p:sp>
        <p:nvSpPr>
          <p:cNvPr id="5" name="TextBox 5"/>
          <p:cNvSpPr txBox="1"/>
          <p:nvPr/>
        </p:nvSpPr>
        <p:spPr>
          <a:xfrm>
            <a:off x="700740" y="7036704"/>
            <a:ext cx="7913921" cy="464704"/>
          </a:xfrm>
          <a:prstGeom prst="rect">
            <a:avLst/>
          </a:prstGeom>
        </p:spPr>
        <p:txBody>
          <a:bodyPr lIns="0" tIns="0" rIns="0" bIns="0" rtlCol="0" anchor="t">
            <a:spAutoFit/>
          </a:bodyPr>
          <a:lstStyle/>
          <a:p>
            <a:pPr marL="0" lvl="0" indent="0" algn="l">
              <a:lnSpc>
                <a:spcPts val="3727"/>
              </a:lnSpc>
              <a:spcBef>
                <a:spcPct val="0"/>
              </a:spcBef>
            </a:pPr>
            <a:r>
              <a:rPr lang="en-US" sz="3030" b="1" i="1">
                <a:solidFill>
                  <a:srgbClr val="9999FF"/>
                </a:solidFill>
                <a:latin typeface="DM Sans Bold Italics"/>
                <a:ea typeface="DM Sans Bold Italics"/>
                <a:cs typeface="DM Sans Bold Italics"/>
                <a:sym typeface="DM Sans Bold Italics"/>
              </a:rPr>
              <a:t>Presented by: Interns Team</a:t>
            </a:r>
          </a:p>
        </p:txBody>
      </p:sp>
      <p:sp>
        <p:nvSpPr>
          <p:cNvPr id="6" name="TextBox 6"/>
          <p:cNvSpPr txBox="1"/>
          <p:nvPr/>
        </p:nvSpPr>
        <p:spPr>
          <a:xfrm>
            <a:off x="700740" y="882015"/>
            <a:ext cx="10959085" cy="4261485"/>
          </a:xfrm>
          <a:prstGeom prst="rect">
            <a:avLst/>
          </a:prstGeom>
        </p:spPr>
        <p:txBody>
          <a:bodyPr lIns="0" tIns="0" rIns="0" bIns="0" rtlCol="0" anchor="t">
            <a:spAutoFit/>
          </a:bodyPr>
          <a:lstStyle/>
          <a:p>
            <a:pPr algn="l">
              <a:lnSpc>
                <a:spcPts val="8399"/>
              </a:lnSpc>
            </a:pPr>
            <a:r>
              <a:rPr lang="en-US" sz="6999" b="1">
                <a:solidFill>
                  <a:srgbClr val="645CDD"/>
                </a:solidFill>
                <a:latin typeface="Now Bold"/>
                <a:ea typeface="Now Bold"/>
                <a:cs typeface="Now Bold"/>
                <a:sym typeface="Now Bold"/>
              </a:rPr>
              <a:t>AI-BASED FRAUD MANAGEMENT SYSTEM FOR UID AADHAAR</a:t>
            </a:r>
          </a:p>
          <a:p>
            <a:pPr algn="l">
              <a:lnSpc>
                <a:spcPts val="8399"/>
              </a:lnSpc>
            </a:pPr>
            <a:endParaRPr lang="en-US" sz="6999" b="1">
              <a:solidFill>
                <a:srgbClr val="645CDD"/>
              </a:solidFill>
              <a:latin typeface="Now Bold"/>
              <a:ea typeface="Now Bold"/>
              <a:cs typeface="Now Bold"/>
              <a:sym typeface="Now Bold"/>
            </a:endParaRPr>
          </a:p>
        </p:txBody>
      </p:sp>
      <p:sp>
        <p:nvSpPr>
          <p:cNvPr id="7" name="TextBox 7"/>
          <p:cNvSpPr txBox="1"/>
          <p:nvPr/>
        </p:nvSpPr>
        <p:spPr>
          <a:xfrm>
            <a:off x="700740" y="4337112"/>
            <a:ext cx="9659937" cy="1137285"/>
          </a:xfrm>
          <a:prstGeom prst="rect">
            <a:avLst/>
          </a:prstGeom>
        </p:spPr>
        <p:txBody>
          <a:bodyPr lIns="0" tIns="0" rIns="0" bIns="0" rtlCol="0" anchor="t">
            <a:spAutoFit/>
          </a:bodyPr>
          <a:lstStyle/>
          <a:p>
            <a:pPr algn="l">
              <a:lnSpc>
                <a:spcPts val="2999"/>
              </a:lnSpc>
            </a:pPr>
            <a:r>
              <a:rPr lang="en-US" sz="2499" b="1">
                <a:solidFill>
                  <a:srgbClr val="9999FF"/>
                </a:solidFill>
                <a:latin typeface="Now Bold"/>
                <a:ea typeface="Now Bold"/>
                <a:cs typeface="Now Bold"/>
                <a:sym typeface="Now Bold"/>
              </a:rPr>
              <a:t>AN AI-POWERED FRAUD DETECTION SYSTEM DESIGNED TO ENHANCE THE SECURITY OF THE UID AADHAAR VERIFICATION PROCESS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45CDD"/>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860032"/>
          </a:xfrm>
          <a:custGeom>
            <a:avLst/>
            <a:gdLst/>
            <a:ahLst/>
            <a:cxnLst/>
            <a:rect l="l" t="t" r="r" b="b"/>
            <a:pathLst>
              <a:path w="18288000" h="3860032">
                <a:moveTo>
                  <a:pt x="0" y="0"/>
                </a:moveTo>
                <a:lnTo>
                  <a:pt x="18288000" y="0"/>
                </a:lnTo>
                <a:lnTo>
                  <a:pt x="18288000" y="3860032"/>
                </a:lnTo>
                <a:lnTo>
                  <a:pt x="0" y="3860032"/>
                </a:lnTo>
                <a:lnTo>
                  <a:pt x="0" y="0"/>
                </a:lnTo>
                <a:close/>
              </a:path>
            </a:pathLst>
          </a:custGeom>
          <a:blipFill>
            <a:blip r:embed="rId2"/>
            <a:stretch>
              <a:fillRect t="-107827" b="-107827"/>
            </a:stretch>
          </a:blipFill>
        </p:spPr>
      </p:sp>
      <p:grpSp>
        <p:nvGrpSpPr>
          <p:cNvPr id="3" name="Group 3"/>
          <p:cNvGrpSpPr/>
          <p:nvPr/>
        </p:nvGrpSpPr>
        <p:grpSpPr>
          <a:xfrm>
            <a:off x="3127104" y="0"/>
            <a:ext cx="12644920" cy="10287000"/>
            <a:chOff x="0" y="0"/>
            <a:chExt cx="3330349" cy="2709333"/>
          </a:xfrm>
        </p:grpSpPr>
        <p:sp>
          <p:nvSpPr>
            <p:cNvPr id="4" name="Freeform 4"/>
            <p:cNvSpPr/>
            <p:nvPr/>
          </p:nvSpPr>
          <p:spPr>
            <a:xfrm>
              <a:off x="0" y="0"/>
              <a:ext cx="3330349" cy="2709333"/>
            </a:xfrm>
            <a:custGeom>
              <a:avLst/>
              <a:gdLst/>
              <a:ahLst/>
              <a:cxnLst/>
              <a:rect l="l" t="t" r="r" b="b"/>
              <a:pathLst>
                <a:path w="3330349" h="2709333">
                  <a:moveTo>
                    <a:pt x="0" y="0"/>
                  </a:moveTo>
                  <a:lnTo>
                    <a:pt x="3330349" y="0"/>
                  </a:lnTo>
                  <a:lnTo>
                    <a:pt x="3330349" y="2709333"/>
                  </a:lnTo>
                  <a:lnTo>
                    <a:pt x="0" y="2709333"/>
                  </a:lnTo>
                  <a:close/>
                </a:path>
              </a:pathLst>
            </a:custGeom>
            <a:solidFill>
              <a:srgbClr val="9798DE">
                <a:alpha val="74902"/>
              </a:srgbClr>
            </a:solidFill>
          </p:spPr>
        </p:sp>
        <p:sp>
          <p:nvSpPr>
            <p:cNvPr id="5" name="TextBox 5"/>
            <p:cNvSpPr txBox="1"/>
            <p:nvPr/>
          </p:nvSpPr>
          <p:spPr>
            <a:xfrm>
              <a:off x="0" y="-38100"/>
              <a:ext cx="3330349" cy="2747433"/>
            </a:xfrm>
            <a:prstGeom prst="rect">
              <a:avLst/>
            </a:prstGeom>
          </p:spPr>
          <p:txBody>
            <a:bodyPr lIns="50800" tIns="50800" rIns="50800" bIns="50800" rtlCol="0" anchor="ctr"/>
            <a:lstStyle/>
            <a:p>
              <a:pPr algn="ctr">
                <a:lnSpc>
                  <a:spcPts val="2605"/>
                </a:lnSpc>
              </a:pPr>
              <a:endParaRPr/>
            </a:p>
          </p:txBody>
        </p:sp>
      </p:grpSp>
      <p:sp>
        <p:nvSpPr>
          <p:cNvPr id="6" name="TextBox 6"/>
          <p:cNvSpPr txBox="1"/>
          <p:nvPr/>
        </p:nvSpPr>
        <p:spPr>
          <a:xfrm>
            <a:off x="5571576" y="1028700"/>
            <a:ext cx="8245699" cy="2586990"/>
          </a:xfrm>
          <a:prstGeom prst="rect">
            <a:avLst/>
          </a:prstGeom>
        </p:spPr>
        <p:txBody>
          <a:bodyPr lIns="0" tIns="0" rIns="0" bIns="0" rtlCol="0" anchor="t">
            <a:spAutoFit/>
          </a:bodyPr>
          <a:lstStyle/>
          <a:p>
            <a:pPr algn="ctr">
              <a:lnSpc>
                <a:spcPts val="6599"/>
              </a:lnSpc>
            </a:pPr>
            <a:r>
              <a:rPr lang="en-US" sz="5499" b="1">
                <a:solidFill>
                  <a:srgbClr val="FFFFFF"/>
                </a:solidFill>
                <a:latin typeface="Now Bold"/>
                <a:ea typeface="Now Bold"/>
                <a:cs typeface="Now Bold"/>
                <a:sym typeface="Now Bold"/>
              </a:rPr>
              <a:t>OVERVIEW OF THE PROJECT</a:t>
            </a:r>
          </a:p>
          <a:p>
            <a:pPr marL="0" lvl="0" indent="0" algn="ctr">
              <a:lnSpc>
                <a:spcPts val="7200"/>
              </a:lnSpc>
              <a:spcBef>
                <a:spcPct val="0"/>
              </a:spcBef>
            </a:pPr>
            <a:endParaRPr lang="en-US" sz="5499" b="1">
              <a:solidFill>
                <a:srgbClr val="FFFFFF"/>
              </a:solidFill>
              <a:latin typeface="Now Bold"/>
              <a:ea typeface="Now Bold"/>
              <a:cs typeface="Now Bold"/>
              <a:sym typeface="Now Bold"/>
            </a:endParaRPr>
          </a:p>
        </p:txBody>
      </p:sp>
      <p:sp>
        <p:nvSpPr>
          <p:cNvPr id="7" name="AutoShape 7"/>
          <p:cNvSpPr/>
          <p:nvPr/>
        </p:nvSpPr>
        <p:spPr>
          <a:xfrm>
            <a:off x="5171401" y="7197488"/>
            <a:ext cx="8735422" cy="0"/>
          </a:xfrm>
          <a:prstGeom prst="line">
            <a:avLst/>
          </a:prstGeom>
          <a:ln w="47625" cap="flat">
            <a:solidFill>
              <a:srgbClr val="645CDD"/>
            </a:solidFill>
            <a:prstDash val="solid"/>
            <a:headEnd type="none" w="sm" len="sm"/>
            <a:tailEnd type="none" w="sm" len="sm"/>
          </a:ln>
        </p:spPr>
      </p:sp>
      <p:sp>
        <p:nvSpPr>
          <p:cNvPr id="8" name="TextBox 8"/>
          <p:cNvSpPr txBox="1"/>
          <p:nvPr/>
        </p:nvSpPr>
        <p:spPr>
          <a:xfrm>
            <a:off x="3758327" y="4089481"/>
            <a:ext cx="11382475" cy="3131820"/>
          </a:xfrm>
          <a:prstGeom prst="rect">
            <a:avLst/>
          </a:prstGeom>
        </p:spPr>
        <p:txBody>
          <a:bodyPr lIns="0" tIns="0" rIns="0" bIns="0" rtlCol="0" anchor="t">
            <a:spAutoFit/>
          </a:bodyPr>
          <a:lstStyle/>
          <a:p>
            <a:pPr algn="ctr">
              <a:lnSpc>
                <a:spcPts val="4140"/>
              </a:lnSpc>
            </a:pPr>
            <a:r>
              <a:rPr lang="en-US" sz="3000">
                <a:solidFill>
                  <a:srgbClr val="FFFFFF"/>
                </a:solidFill>
                <a:latin typeface="DM Sans"/>
                <a:ea typeface="DM Sans"/>
                <a:cs typeface="DM Sans"/>
                <a:sym typeface="DM Sans"/>
              </a:rPr>
              <a:t>Developed an advanced fraud detection system leveraging OCR technology. Integrated classification, detection, and OCR models to identify fraudulent Aadhaar documents with high accuracy. The system automates document verification, ensuring security and efficiency in identity validation.</a:t>
            </a:r>
          </a:p>
          <a:p>
            <a:pPr marL="0" lvl="0" indent="0" algn="ctr">
              <a:lnSpc>
                <a:spcPts val="4140"/>
              </a:lnSpc>
              <a:spcBef>
                <a:spcPct val="0"/>
              </a:spcBef>
            </a:pPr>
            <a:endParaRPr lang="en-US" sz="3000">
              <a:solidFill>
                <a:srgbClr val="FFFFFF"/>
              </a:solidFill>
              <a:latin typeface="DM Sans"/>
              <a:ea typeface="DM Sans"/>
              <a:cs typeface="DM Sans"/>
              <a:sym typeface="DM Sans"/>
            </a:endParaRPr>
          </a:p>
        </p:txBody>
      </p:sp>
      <p:sp>
        <p:nvSpPr>
          <p:cNvPr id="9" name="AutoShape 9"/>
          <p:cNvSpPr/>
          <p:nvPr/>
        </p:nvSpPr>
        <p:spPr>
          <a:xfrm>
            <a:off x="5081853" y="9558632"/>
            <a:ext cx="8735422" cy="0"/>
          </a:xfrm>
          <a:prstGeom prst="line">
            <a:avLst/>
          </a:prstGeom>
          <a:ln w="47625" cap="flat">
            <a:solidFill>
              <a:srgbClr val="645CDD"/>
            </a:solidFill>
            <a:prstDash val="solid"/>
            <a:headEnd type="none" w="sm" len="sm"/>
            <a:tailEnd type="none" w="sm" len="sm"/>
          </a:ln>
        </p:spPr>
      </p:sp>
      <p:sp>
        <p:nvSpPr>
          <p:cNvPr id="10" name="TextBox 10"/>
          <p:cNvSpPr txBox="1"/>
          <p:nvPr/>
        </p:nvSpPr>
        <p:spPr>
          <a:xfrm>
            <a:off x="3937422" y="7450750"/>
            <a:ext cx="11203379" cy="2084070"/>
          </a:xfrm>
          <a:prstGeom prst="rect">
            <a:avLst/>
          </a:prstGeom>
        </p:spPr>
        <p:txBody>
          <a:bodyPr lIns="0" tIns="0" rIns="0" bIns="0" rtlCol="0" anchor="t">
            <a:spAutoFit/>
          </a:bodyPr>
          <a:lstStyle/>
          <a:p>
            <a:pPr algn="ctr">
              <a:lnSpc>
                <a:spcPts val="4140"/>
              </a:lnSpc>
            </a:pPr>
            <a:r>
              <a:rPr lang="en-US" sz="3000">
                <a:solidFill>
                  <a:srgbClr val="FFFFFF"/>
                </a:solidFill>
                <a:latin typeface="DM Sans"/>
                <a:ea typeface="DM Sans"/>
                <a:cs typeface="DM Sans"/>
                <a:sym typeface="DM Sans"/>
              </a:rPr>
              <a:t>A team of interns developing an OCR-based fraud detection system for UID Aadhaar, integrating classification and detection models for secure and efficient identity verification.</a:t>
            </a:r>
          </a:p>
          <a:p>
            <a:pPr marL="0" lvl="0" indent="0" algn="ctr">
              <a:lnSpc>
                <a:spcPts val="4140"/>
              </a:lnSpc>
              <a:spcBef>
                <a:spcPct val="0"/>
              </a:spcBef>
            </a:pPr>
            <a:endParaRPr lang="en-US" sz="3000">
              <a:solidFill>
                <a:srgbClr val="FFFFFF"/>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52971" y="5441992"/>
            <a:ext cx="4432959" cy="1427059"/>
            <a:chOff x="0" y="0"/>
            <a:chExt cx="4289760" cy="1380960"/>
          </a:xfrm>
        </p:grpSpPr>
        <p:sp>
          <p:nvSpPr>
            <p:cNvPr id="3" name="Freeform 3"/>
            <p:cNvSpPr/>
            <p:nvPr/>
          </p:nvSpPr>
          <p:spPr>
            <a:xfrm>
              <a:off x="0" y="0"/>
              <a:ext cx="4289806" cy="1380998"/>
            </a:xfrm>
            <a:custGeom>
              <a:avLst/>
              <a:gdLst/>
              <a:ahLst/>
              <a:cxnLst/>
              <a:rect l="l" t="t" r="r" b="b"/>
              <a:pathLst>
                <a:path w="4289806" h="1380998">
                  <a:moveTo>
                    <a:pt x="4013454" y="876173"/>
                  </a:moveTo>
                  <a:lnTo>
                    <a:pt x="3530854" y="0"/>
                  </a:lnTo>
                  <a:lnTo>
                    <a:pt x="758825" y="0"/>
                  </a:lnTo>
                  <a:lnTo>
                    <a:pt x="279400" y="876173"/>
                  </a:lnTo>
                  <a:lnTo>
                    <a:pt x="0" y="1380998"/>
                  </a:lnTo>
                  <a:lnTo>
                    <a:pt x="4289806" y="1380998"/>
                  </a:lnTo>
                  <a:lnTo>
                    <a:pt x="4013454" y="876173"/>
                  </a:lnTo>
                  <a:close/>
                </a:path>
              </a:pathLst>
            </a:custGeom>
            <a:solidFill>
              <a:srgbClr val="645CDD"/>
            </a:solidFill>
          </p:spPr>
        </p:sp>
      </p:grpSp>
      <p:grpSp>
        <p:nvGrpSpPr>
          <p:cNvPr id="4" name="Group 4"/>
          <p:cNvGrpSpPr/>
          <p:nvPr/>
        </p:nvGrpSpPr>
        <p:grpSpPr>
          <a:xfrm>
            <a:off x="12877800" y="2895802"/>
            <a:ext cx="2734080" cy="2419475"/>
            <a:chOff x="0" y="0"/>
            <a:chExt cx="2679840" cy="2205853"/>
          </a:xfrm>
        </p:grpSpPr>
        <p:sp>
          <p:nvSpPr>
            <p:cNvPr id="5" name="Freeform 5"/>
            <p:cNvSpPr/>
            <p:nvPr/>
          </p:nvSpPr>
          <p:spPr>
            <a:xfrm>
              <a:off x="0" y="0"/>
              <a:ext cx="2679827" cy="2205830"/>
            </a:xfrm>
            <a:custGeom>
              <a:avLst/>
              <a:gdLst/>
              <a:ahLst/>
              <a:cxnLst/>
              <a:rect l="l" t="t" r="r" b="b"/>
              <a:pathLst>
                <a:path w="2679827" h="2205830">
                  <a:moveTo>
                    <a:pt x="1343152" y="0"/>
                  </a:moveTo>
                  <a:lnTo>
                    <a:pt x="0" y="2205830"/>
                  </a:lnTo>
                  <a:lnTo>
                    <a:pt x="2679827" y="2205830"/>
                  </a:lnTo>
                  <a:lnTo>
                    <a:pt x="1343152" y="0"/>
                  </a:lnTo>
                  <a:close/>
                </a:path>
              </a:pathLst>
            </a:custGeom>
            <a:solidFill>
              <a:srgbClr val="9798DE"/>
            </a:solidFill>
          </p:spPr>
        </p:sp>
      </p:grpSp>
      <p:grpSp>
        <p:nvGrpSpPr>
          <p:cNvPr id="6" name="Group 6"/>
          <p:cNvGrpSpPr/>
          <p:nvPr/>
        </p:nvGrpSpPr>
        <p:grpSpPr>
          <a:xfrm>
            <a:off x="11199728" y="7008534"/>
            <a:ext cx="6168048" cy="1424082"/>
            <a:chOff x="0" y="0"/>
            <a:chExt cx="5968800" cy="1378080"/>
          </a:xfrm>
        </p:grpSpPr>
        <p:sp>
          <p:nvSpPr>
            <p:cNvPr id="7" name="Freeform 7"/>
            <p:cNvSpPr/>
            <p:nvPr/>
          </p:nvSpPr>
          <p:spPr>
            <a:xfrm>
              <a:off x="0" y="0"/>
              <a:ext cx="5968746" cy="1378077"/>
            </a:xfrm>
            <a:custGeom>
              <a:avLst/>
              <a:gdLst/>
              <a:ahLst/>
              <a:cxnLst/>
              <a:rect l="l" t="t" r="r" b="b"/>
              <a:pathLst>
                <a:path w="5968746" h="1378077">
                  <a:moveTo>
                    <a:pt x="5194173" y="0"/>
                  </a:moveTo>
                  <a:lnTo>
                    <a:pt x="774700" y="0"/>
                  </a:lnTo>
                  <a:lnTo>
                    <a:pt x="0" y="1378077"/>
                  </a:lnTo>
                  <a:lnTo>
                    <a:pt x="5968746" y="1378077"/>
                  </a:lnTo>
                  <a:lnTo>
                    <a:pt x="5194173" y="0"/>
                  </a:lnTo>
                  <a:close/>
                </a:path>
              </a:pathLst>
            </a:custGeom>
            <a:solidFill>
              <a:srgbClr val="9798DE"/>
            </a:solidFill>
          </p:spPr>
        </p:sp>
      </p:grpSp>
      <p:sp>
        <p:nvSpPr>
          <p:cNvPr id="8" name="Freeform 8"/>
          <p:cNvSpPr/>
          <p:nvPr/>
        </p:nvSpPr>
        <p:spPr>
          <a:xfrm>
            <a:off x="15128164" y="-2586935"/>
            <a:ext cx="5956513" cy="5956513"/>
          </a:xfrm>
          <a:custGeom>
            <a:avLst/>
            <a:gdLst/>
            <a:ahLst/>
            <a:cxnLst/>
            <a:rect l="l" t="t" r="r" b="b"/>
            <a:pathLst>
              <a:path w="5956513" h="5956513">
                <a:moveTo>
                  <a:pt x="0" y="0"/>
                </a:moveTo>
                <a:lnTo>
                  <a:pt x="5956513" y="0"/>
                </a:lnTo>
                <a:lnTo>
                  <a:pt x="5956513" y="5956513"/>
                </a:lnTo>
                <a:lnTo>
                  <a:pt x="0" y="59565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10861" y="8178747"/>
            <a:ext cx="5221722" cy="5221722"/>
          </a:xfrm>
          <a:custGeom>
            <a:avLst/>
            <a:gdLst/>
            <a:ahLst/>
            <a:cxnLst/>
            <a:rect l="l" t="t" r="r" b="b"/>
            <a:pathLst>
              <a:path w="5221722" h="5221722">
                <a:moveTo>
                  <a:pt x="0" y="0"/>
                </a:moveTo>
                <a:lnTo>
                  <a:pt x="5221722" y="0"/>
                </a:lnTo>
                <a:lnTo>
                  <a:pt x="5221722" y="5221722"/>
                </a:lnTo>
                <a:lnTo>
                  <a:pt x="0" y="52217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3733521" y="3879752"/>
            <a:ext cx="1071860" cy="1038364"/>
          </a:xfrm>
          <a:custGeom>
            <a:avLst/>
            <a:gdLst/>
            <a:ahLst/>
            <a:cxnLst/>
            <a:rect l="l" t="t" r="r" b="b"/>
            <a:pathLst>
              <a:path w="1071860" h="1038364">
                <a:moveTo>
                  <a:pt x="0" y="0"/>
                </a:moveTo>
                <a:lnTo>
                  <a:pt x="1071860" y="0"/>
                </a:lnTo>
                <a:lnTo>
                  <a:pt x="1071860" y="1038365"/>
                </a:lnTo>
                <a:lnTo>
                  <a:pt x="0" y="1038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3632195" y="5568666"/>
            <a:ext cx="1190073" cy="1173710"/>
          </a:xfrm>
          <a:custGeom>
            <a:avLst/>
            <a:gdLst/>
            <a:ahLst/>
            <a:cxnLst/>
            <a:rect l="l" t="t" r="r" b="b"/>
            <a:pathLst>
              <a:path w="1190073" h="1173710">
                <a:moveTo>
                  <a:pt x="0" y="0"/>
                </a:moveTo>
                <a:lnTo>
                  <a:pt x="1190074" y="0"/>
                </a:lnTo>
                <a:lnTo>
                  <a:pt x="1190074" y="1173710"/>
                </a:lnTo>
                <a:lnTo>
                  <a:pt x="0" y="11737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3733521" y="7183745"/>
            <a:ext cx="1246135" cy="1165136"/>
          </a:xfrm>
          <a:custGeom>
            <a:avLst/>
            <a:gdLst/>
            <a:ahLst/>
            <a:cxnLst/>
            <a:rect l="l" t="t" r="r" b="b"/>
            <a:pathLst>
              <a:path w="1246135" h="1165136">
                <a:moveTo>
                  <a:pt x="0" y="0"/>
                </a:moveTo>
                <a:lnTo>
                  <a:pt x="1246135" y="0"/>
                </a:lnTo>
                <a:lnTo>
                  <a:pt x="1246135" y="1165136"/>
                </a:lnTo>
                <a:lnTo>
                  <a:pt x="0" y="11651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dirty="0"/>
          </a:p>
        </p:txBody>
      </p:sp>
      <p:sp>
        <p:nvSpPr>
          <p:cNvPr id="13" name="TextBox 13"/>
          <p:cNvSpPr txBox="1"/>
          <p:nvPr/>
        </p:nvSpPr>
        <p:spPr>
          <a:xfrm>
            <a:off x="1337116" y="594563"/>
            <a:ext cx="12946636" cy="2301240"/>
          </a:xfrm>
          <a:prstGeom prst="rect">
            <a:avLst/>
          </a:prstGeom>
        </p:spPr>
        <p:txBody>
          <a:bodyPr lIns="0" tIns="0" rIns="0" bIns="0" rtlCol="0" anchor="t">
            <a:spAutoFit/>
          </a:bodyPr>
          <a:lstStyle/>
          <a:p>
            <a:pPr algn="l">
              <a:lnSpc>
                <a:spcPts val="6000"/>
              </a:lnSpc>
            </a:pPr>
            <a:r>
              <a:rPr lang="en-US" sz="5000" b="1">
                <a:solidFill>
                  <a:srgbClr val="645CDD"/>
                </a:solidFill>
                <a:latin typeface="Now Bold"/>
                <a:ea typeface="Now Bold"/>
                <a:cs typeface="Now Bold"/>
                <a:sym typeface="Now Bold"/>
              </a:rPr>
              <a:t>IMPORTANCE OF FRAUD DETECTION IN AADHAAR VERIFICATION</a:t>
            </a:r>
          </a:p>
          <a:p>
            <a:pPr marL="0" lvl="0" indent="0" algn="l">
              <a:lnSpc>
                <a:spcPts val="6000"/>
              </a:lnSpc>
              <a:spcBef>
                <a:spcPct val="0"/>
              </a:spcBef>
            </a:pPr>
            <a:endParaRPr lang="en-US" sz="5000" b="1">
              <a:solidFill>
                <a:srgbClr val="645CDD"/>
              </a:solidFill>
              <a:latin typeface="Now Bold"/>
              <a:ea typeface="Now Bold"/>
              <a:cs typeface="Now Bold"/>
              <a:sym typeface="Now Bold"/>
            </a:endParaRPr>
          </a:p>
        </p:txBody>
      </p:sp>
      <p:sp>
        <p:nvSpPr>
          <p:cNvPr id="14" name="TextBox 14"/>
          <p:cNvSpPr txBox="1"/>
          <p:nvPr/>
        </p:nvSpPr>
        <p:spPr>
          <a:xfrm>
            <a:off x="2220139" y="3006441"/>
            <a:ext cx="8979589" cy="2133600"/>
          </a:xfrm>
          <a:prstGeom prst="rect">
            <a:avLst/>
          </a:prstGeom>
        </p:spPr>
        <p:txBody>
          <a:bodyPr lIns="0" tIns="0" rIns="0" bIns="0" rtlCol="0" anchor="t">
            <a:spAutoFit/>
          </a:bodyPr>
          <a:lstStyle/>
          <a:p>
            <a:pPr algn="l">
              <a:lnSpc>
                <a:spcPts val="3449"/>
              </a:lnSpc>
            </a:pPr>
            <a:r>
              <a:rPr lang="en-US" sz="2499" b="1">
                <a:solidFill>
                  <a:srgbClr val="645CDD"/>
                </a:solidFill>
                <a:latin typeface="DM Sans Bold"/>
                <a:ea typeface="DM Sans Bold"/>
                <a:cs typeface="DM Sans Bold"/>
                <a:sym typeface="DM Sans Bold"/>
              </a:rPr>
              <a:t>Protection Against Identity Theft</a:t>
            </a:r>
          </a:p>
          <a:p>
            <a:pPr algn="l">
              <a:lnSpc>
                <a:spcPts val="3449"/>
              </a:lnSpc>
            </a:pPr>
            <a:r>
              <a:rPr lang="en-US" sz="2499">
                <a:solidFill>
                  <a:srgbClr val="645CDD"/>
                </a:solidFill>
                <a:latin typeface="DM Sans"/>
                <a:ea typeface="DM Sans"/>
                <a:cs typeface="DM Sans"/>
                <a:sym typeface="DM Sans"/>
              </a:rPr>
              <a:t>Effective fraud detection mechanisms safeguard individuals from unauthorized access to their personal information and prevent identity theft in the Aadhaar system.</a:t>
            </a:r>
          </a:p>
          <a:p>
            <a:pPr marL="0" lvl="0" indent="0" algn="l">
              <a:lnSpc>
                <a:spcPts val="3449"/>
              </a:lnSpc>
              <a:spcBef>
                <a:spcPct val="0"/>
              </a:spcBef>
            </a:pPr>
            <a:endParaRPr lang="en-US" sz="2499">
              <a:solidFill>
                <a:srgbClr val="645CDD"/>
              </a:solidFill>
              <a:latin typeface="DM Sans"/>
              <a:ea typeface="DM Sans"/>
              <a:cs typeface="DM Sans"/>
              <a:sym typeface="DM Sans"/>
            </a:endParaRPr>
          </a:p>
        </p:txBody>
      </p:sp>
      <p:sp>
        <p:nvSpPr>
          <p:cNvPr id="15" name="TextBox 15"/>
          <p:cNvSpPr txBox="1"/>
          <p:nvPr/>
        </p:nvSpPr>
        <p:spPr>
          <a:xfrm>
            <a:off x="2220139" y="5064908"/>
            <a:ext cx="9306727" cy="2133600"/>
          </a:xfrm>
          <a:prstGeom prst="rect">
            <a:avLst/>
          </a:prstGeom>
        </p:spPr>
        <p:txBody>
          <a:bodyPr lIns="0" tIns="0" rIns="0" bIns="0" rtlCol="0" anchor="t">
            <a:spAutoFit/>
          </a:bodyPr>
          <a:lstStyle/>
          <a:p>
            <a:pPr algn="l">
              <a:lnSpc>
                <a:spcPts val="3449"/>
              </a:lnSpc>
            </a:pPr>
            <a:r>
              <a:rPr lang="en-US" sz="2499" b="1">
                <a:solidFill>
                  <a:srgbClr val="645CDD"/>
                </a:solidFill>
                <a:latin typeface="DM Sans Bold"/>
                <a:ea typeface="DM Sans Bold"/>
                <a:cs typeface="DM Sans Bold"/>
                <a:sym typeface="DM Sans Bold"/>
              </a:rPr>
              <a:t>Maintaining Public Trust</a:t>
            </a:r>
          </a:p>
          <a:p>
            <a:pPr algn="l">
              <a:lnSpc>
                <a:spcPts val="3449"/>
              </a:lnSpc>
            </a:pPr>
            <a:r>
              <a:rPr lang="en-US" sz="2499">
                <a:solidFill>
                  <a:srgbClr val="645CDD"/>
                </a:solidFill>
                <a:latin typeface="DM Sans"/>
                <a:ea typeface="DM Sans"/>
                <a:cs typeface="DM Sans"/>
                <a:sym typeface="DM Sans"/>
              </a:rPr>
              <a:t>Robust fraud detection enhances public confidence in the Aadhaar system, ensuring that citizens feel secure in sharing their biometric data for essential services.</a:t>
            </a:r>
          </a:p>
          <a:p>
            <a:pPr marL="0" lvl="0" indent="0" algn="l">
              <a:lnSpc>
                <a:spcPts val="3449"/>
              </a:lnSpc>
              <a:spcBef>
                <a:spcPct val="0"/>
              </a:spcBef>
            </a:pPr>
            <a:endParaRPr lang="en-US" sz="2499">
              <a:solidFill>
                <a:srgbClr val="645CDD"/>
              </a:solidFill>
              <a:latin typeface="DM Sans"/>
              <a:ea typeface="DM Sans"/>
              <a:cs typeface="DM Sans"/>
              <a:sym typeface="DM Sans"/>
            </a:endParaRPr>
          </a:p>
        </p:txBody>
      </p:sp>
      <p:sp>
        <p:nvSpPr>
          <p:cNvPr id="16" name="TextBox 16"/>
          <p:cNvSpPr txBox="1"/>
          <p:nvPr/>
        </p:nvSpPr>
        <p:spPr>
          <a:xfrm>
            <a:off x="2220139" y="7124700"/>
            <a:ext cx="8749271" cy="2133600"/>
          </a:xfrm>
          <a:prstGeom prst="rect">
            <a:avLst/>
          </a:prstGeom>
        </p:spPr>
        <p:txBody>
          <a:bodyPr lIns="0" tIns="0" rIns="0" bIns="0" rtlCol="0" anchor="t">
            <a:spAutoFit/>
          </a:bodyPr>
          <a:lstStyle/>
          <a:p>
            <a:pPr algn="l">
              <a:lnSpc>
                <a:spcPts val="3449"/>
              </a:lnSpc>
            </a:pPr>
            <a:r>
              <a:rPr lang="en-US" sz="2499" b="1">
                <a:solidFill>
                  <a:srgbClr val="645CDD"/>
                </a:solidFill>
                <a:latin typeface="DM Sans Bold"/>
                <a:ea typeface="DM Sans Bold"/>
                <a:cs typeface="DM Sans Bold"/>
                <a:sym typeface="DM Sans Bold"/>
              </a:rPr>
              <a:t>Compliance with Regulations</a:t>
            </a:r>
          </a:p>
          <a:p>
            <a:pPr algn="l">
              <a:lnSpc>
                <a:spcPts val="3449"/>
              </a:lnSpc>
            </a:pPr>
            <a:r>
              <a:rPr lang="en-US" sz="2499">
                <a:solidFill>
                  <a:srgbClr val="645CDD"/>
                </a:solidFill>
                <a:latin typeface="DM Sans"/>
                <a:ea typeface="DM Sans"/>
                <a:cs typeface="DM Sans"/>
                <a:sym typeface="DM Sans"/>
              </a:rPr>
              <a:t>Implementing fraud detection aligns with legal and ethical standards, ensuring that personal data is handled responsibly and in accordance with privacy laws.</a:t>
            </a:r>
          </a:p>
          <a:p>
            <a:pPr marL="0" lvl="0" indent="0" algn="l">
              <a:lnSpc>
                <a:spcPts val="3449"/>
              </a:lnSpc>
              <a:spcBef>
                <a:spcPct val="0"/>
              </a:spcBef>
            </a:pPr>
            <a:endParaRPr lang="en-US" sz="2499">
              <a:solidFill>
                <a:srgbClr val="645CDD"/>
              </a:solidFill>
              <a:latin typeface="DM Sans"/>
              <a:ea typeface="DM Sans"/>
              <a:cs typeface="DM Sans"/>
              <a:sym typeface="DM Sans"/>
            </a:endParaRPr>
          </a:p>
        </p:txBody>
      </p:sp>
      <p:sp>
        <p:nvSpPr>
          <p:cNvPr id="17" name="TextBox 17"/>
          <p:cNvSpPr txBox="1"/>
          <p:nvPr/>
        </p:nvSpPr>
        <p:spPr>
          <a:xfrm>
            <a:off x="832158" y="2762453"/>
            <a:ext cx="1009917" cy="1253485"/>
          </a:xfrm>
          <a:prstGeom prst="rect">
            <a:avLst/>
          </a:prstGeom>
        </p:spPr>
        <p:txBody>
          <a:bodyPr lIns="0" tIns="0" rIns="0" bIns="0" rtlCol="0" anchor="t">
            <a:spAutoFit/>
          </a:bodyPr>
          <a:lstStyle/>
          <a:p>
            <a:pPr algn="ctr">
              <a:lnSpc>
                <a:spcPts val="10403"/>
              </a:lnSpc>
              <a:spcBef>
                <a:spcPct val="0"/>
              </a:spcBef>
            </a:pPr>
            <a:r>
              <a:rPr lang="en-US" sz="7538" b="1">
                <a:solidFill>
                  <a:srgbClr val="645CDD"/>
                </a:solidFill>
                <a:latin typeface="DM Sans Bold"/>
                <a:ea typeface="DM Sans Bold"/>
                <a:cs typeface="DM Sans Bold"/>
                <a:sym typeface="DM Sans Bold"/>
              </a:rPr>
              <a:t>01</a:t>
            </a:r>
          </a:p>
        </p:txBody>
      </p:sp>
      <p:sp>
        <p:nvSpPr>
          <p:cNvPr id="18" name="TextBox 18"/>
          <p:cNvSpPr txBox="1"/>
          <p:nvPr/>
        </p:nvSpPr>
        <p:spPr>
          <a:xfrm>
            <a:off x="699834" y="4864273"/>
            <a:ext cx="1226701" cy="1275436"/>
          </a:xfrm>
          <a:prstGeom prst="rect">
            <a:avLst/>
          </a:prstGeom>
        </p:spPr>
        <p:txBody>
          <a:bodyPr lIns="0" tIns="0" rIns="0" bIns="0" rtlCol="0" anchor="t">
            <a:spAutoFit/>
          </a:bodyPr>
          <a:lstStyle/>
          <a:p>
            <a:pPr algn="ctr">
              <a:lnSpc>
                <a:spcPts val="10405"/>
              </a:lnSpc>
              <a:spcBef>
                <a:spcPct val="0"/>
              </a:spcBef>
            </a:pPr>
            <a:r>
              <a:rPr lang="en-US" sz="7539" b="1">
                <a:solidFill>
                  <a:srgbClr val="645CDD"/>
                </a:solidFill>
                <a:latin typeface="DM Sans Bold"/>
                <a:ea typeface="DM Sans Bold"/>
                <a:cs typeface="DM Sans Bold"/>
                <a:sym typeface="DM Sans Bold"/>
              </a:rPr>
              <a:t>02</a:t>
            </a:r>
          </a:p>
        </p:txBody>
      </p:sp>
      <p:sp>
        <p:nvSpPr>
          <p:cNvPr id="19" name="TextBox 19"/>
          <p:cNvSpPr txBox="1"/>
          <p:nvPr/>
        </p:nvSpPr>
        <p:spPr>
          <a:xfrm>
            <a:off x="699834" y="6897625"/>
            <a:ext cx="1250633" cy="1275436"/>
          </a:xfrm>
          <a:prstGeom prst="rect">
            <a:avLst/>
          </a:prstGeom>
        </p:spPr>
        <p:txBody>
          <a:bodyPr lIns="0" tIns="0" rIns="0" bIns="0" rtlCol="0" anchor="t">
            <a:spAutoFit/>
          </a:bodyPr>
          <a:lstStyle/>
          <a:p>
            <a:pPr algn="ctr">
              <a:lnSpc>
                <a:spcPts val="10405"/>
              </a:lnSpc>
              <a:spcBef>
                <a:spcPct val="0"/>
              </a:spcBef>
            </a:pPr>
            <a:r>
              <a:rPr lang="en-US" sz="7539" b="1">
                <a:solidFill>
                  <a:srgbClr val="645CDD"/>
                </a:solidFill>
                <a:latin typeface="DM Sans Bold"/>
                <a:ea typeface="DM Sans Bold"/>
                <a:cs typeface="DM Sans Bold"/>
                <a:sym typeface="DM Sans Bold"/>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61487" y="1169048"/>
            <a:ext cx="6920351" cy="8229600"/>
            <a:chOff x="0" y="0"/>
            <a:chExt cx="2626846" cy="3123814"/>
          </a:xfrm>
        </p:grpSpPr>
        <p:sp>
          <p:nvSpPr>
            <p:cNvPr id="3" name="Freeform 3"/>
            <p:cNvSpPr/>
            <p:nvPr/>
          </p:nvSpPr>
          <p:spPr>
            <a:xfrm>
              <a:off x="0" y="0"/>
              <a:ext cx="2626846" cy="3123814"/>
            </a:xfrm>
            <a:custGeom>
              <a:avLst/>
              <a:gdLst/>
              <a:ahLst/>
              <a:cxnLst/>
              <a:rect l="l" t="t" r="r" b="b"/>
              <a:pathLst>
                <a:path w="2626846" h="3123814">
                  <a:moveTo>
                    <a:pt x="0" y="0"/>
                  </a:moveTo>
                  <a:lnTo>
                    <a:pt x="2626846" y="0"/>
                  </a:lnTo>
                  <a:lnTo>
                    <a:pt x="2626846" y="3123814"/>
                  </a:lnTo>
                  <a:lnTo>
                    <a:pt x="0" y="3123814"/>
                  </a:lnTo>
                  <a:close/>
                </a:path>
              </a:pathLst>
            </a:custGeom>
            <a:solidFill>
              <a:srgbClr val="645CDD"/>
            </a:solidFill>
            <a:ln w="9525" cap="sq">
              <a:solidFill>
                <a:srgbClr val="FFFFFF"/>
              </a:solidFill>
              <a:prstDash val="solid"/>
              <a:miter/>
            </a:ln>
          </p:spPr>
        </p:sp>
        <p:sp>
          <p:nvSpPr>
            <p:cNvPr id="4" name="TextBox 4"/>
            <p:cNvSpPr txBox="1"/>
            <p:nvPr/>
          </p:nvSpPr>
          <p:spPr>
            <a:xfrm>
              <a:off x="0" y="-38100"/>
              <a:ext cx="2626846" cy="3161914"/>
            </a:xfrm>
            <a:prstGeom prst="rect">
              <a:avLst/>
            </a:prstGeom>
          </p:spPr>
          <p:txBody>
            <a:bodyPr lIns="50800" tIns="50800" rIns="50800" bIns="50800" rtlCol="0" anchor="ctr"/>
            <a:lstStyle/>
            <a:p>
              <a:pPr algn="ctr">
                <a:lnSpc>
                  <a:spcPts val="3483"/>
                </a:lnSpc>
              </a:pPr>
              <a:endParaRPr/>
            </a:p>
          </p:txBody>
        </p:sp>
      </p:grpSp>
      <p:grpSp>
        <p:nvGrpSpPr>
          <p:cNvPr id="5" name="Group 5"/>
          <p:cNvGrpSpPr/>
          <p:nvPr/>
        </p:nvGrpSpPr>
        <p:grpSpPr>
          <a:xfrm>
            <a:off x="10401013" y="1169048"/>
            <a:ext cx="7023099" cy="8229600"/>
            <a:chOff x="0" y="0"/>
            <a:chExt cx="2665847" cy="3123814"/>
          </a:xfrm>
        </p:grpSpPr>
        <p:sp>
          <p:nvSpPr>
            <p:cNvPr id="6" name="Freeform 6"/>
            <p:cNvSpPr/>
            <p:nvPr/>
          </p:nvSpPr>
          <p:spPr>
            <a:xfrm>
              <a:off x="0" y="0"/>
              <a:ext cx="2665847" cy="3123814"/>
            </a:xfrm>
            <a:custGeom>
              <a:avLst/>
              <a:gdLst/>
              <a:ahLst/>
              <a:cxnLst/>
              <a:rect l="l" t="t" r="r" b="b"/>
              <a:pathLst>
                <a:path w="2665847" h="3123814">
                  <a:moveTo>
                    <a:pt x="0" y="0"/>
                  </a:moveTo>
                  <a:lnTo>
                    <a:pt x="2665847" y="0"/>
                  </a:lnTo>
                  <a:lnTo>
                    <a:pt x="2665847" y="3123814"/>
                  </a:lnTo>
                  <a:lnTo>
                    <a:pt x="0" y="3123814"/>
                  </a:lnTo>
                  <a:close/>
                </a:path>
              </a:pathLst>
            </a:custGeom>
            <a:solidFill>
              <a:srgbClr val="645CDD"/>
            </a:solidFill>
            <a:ln w="9525" cap="sq">
              <a:solidFill>
                <a:srgbClr val="FFFFFF"/>
              </a:solidFill>
              <a:prstDash val="solid"/>
              <a:miter/>
            </a:ln>
          </p:spPr>
        </p:sp>
        <p:sp>
          <p:nvSpPr>
            <p:cNvPr id="7" name="TextBox 7"/>
            <p:cNvSpPr txBox="1"/>
            <p:nvPr/>
          </p:nvSpPr>
          <p:spPr>
            <a:xfrm>
              <a:off x="0" y="-38100"/>
              <a:ext cx="2665847" cy="3161914"/>
            </a:xfrm>
            <a:prstGeom prst="rect">
              <a:avLst/>
            </a:prstGeom>
          </p:spPr>
          <p:txBody>
            <a:bodyPr lIns="50800" tIns="50800" rIns="50800" bIns="50800" rtlCol="0" anchor="ctr"/>
            <a:lstStyle/>
            <a:p>
              <a:pPr algn="ctr">
                <a:lnSpc>
                  <a:spcPts val="3483"/>
                </a:lnSpc>
              </a:pPr>
              <a:endParaRPr/>
            </a:p>
          </p:txBody>
        </p:sp>
      </p:grpSp>
      <p:sp>
        <p:nvSpPr>
          <p:cNvPr id="8" name="Freeform 8"/>
          <p:cNvSpPr/>
          <p:nvPr/>
        </p:nvSpPr>
        <p:spPr>
          <a:xfrm>
            <a:off x="-7631327" y="597505"/>
            <a:ext cx="9077445" cy="9077445"/>
          </a:xfrm>
          <a:custGeom>
            <a:avLst/>
            <a:gdLst/>
            <a:ahLst/>
            <a:cxnLst/>
            <a:rect l="l" t="t" r="r" b="b"/>
            <a:pathLst>
              <a:path w="9077445" h="9077445">
                <a:moveTo>
                  <a:pt x="0" y="0"/>
                </a:moveTo>
                <a:lnTo>
                  <a:pt x="9077444" y="0"/>
                </a:lnTo>
                <a:lnTo>
                  <a:pt x="9077444" y="9077445"/>
                </a:lnTo>
                <a:lnTo>
                  <a:pt x="0" y="90774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624801" y="1612367"/>
            <a:ext cx="1739345" cy="1739345"/>
          </a:xfrm>
          <a:custGeom>
            <a:avLst/>
            <a:gdLst/>
            <a:ahLst/>
            <a:cxnLst/>
            <a:rect l="l" t="t" r="r" b="b"/>
            <a:pathLst>
              <a:path w="1739345" h="1739345">
                <a:moveTo>
                  <a:pt x="0" y="0"/>
                </a:moveTo>
                <a:lnTo>
                  <a:pt x="1739345" y="0"/>
                </a:lnTo>
                <a:lnTo>
                  <a:pt x="1739345" y="1739345"/>
                </a:lnTo>
                <a:lnTo>
                  <a:pt x="0" y="17393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9573105" y="1401570"/>
            <a:ext cx="1720803" cy="1720803"/>
          </a:xfrm>
          <a:custGeom>
            <a:avLst/>
            <a:gdLst/>
            <a:ahLst/>
            <a:cxnLst/>
            <a:rect l="l" t="t" r="r" b="b"/>
            <a:pathLst>
              <a:path w="1720803" h="1720803">
                <a:moveTo>
                  <a:pt x="0" y="0"/>
                </a:moveTo>
                <a:lnTo>
                  <a:pt x="1720803" y="0"/>
                </a:lnTo>
                <a:lnTo>
                  <a:pt x="1720803" y="1720803"/>
                </a:lnTo>
                <a:lnTo>
                  <a:pt x="0" y="17208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3922877" y="1536167"/>
            <a:ext cx="4001375" cy="1375410"/>
          </a:xfrm>
          <a:prstGeom prst="rect">
            <a:avLst/>
          </a:prstGeom>
        </p:spPr>
        <p:txBody>
          <a:bodyPr lIns="0" tIns="0" rIns="0" bIns="0" rtlCol="0" anchor="t">
            <a:spAutoFit/>
          </a:bodyPr>
          <a:lstStyle/>
          <a:p>
            <a:pPr algn="ctr">
              <a:lnSpc>
                <a:spcPts val="5519"/>
              </a:lnSpc>
            </a:pPr>
            <a:r>
              <a:rPr lang="en-US" sz="3999" b="1">
                <a:solidFill>
                  <a:srgbClr val="000000"/>
                </a:solidFill>
                <a:latin typeface="DM Sans Bold"/>
                <a:ea typeface="DM Sans Bold"/>
                <a:cs typeface="DM Sans Bold"/>
                <a:sym typeface="DM Sans Bold"/>
              </a:rPr>
              <a:t>GOALS AND OBJECTIVES</a:t>
            </a:r>
          </a:p>
        </p:txBody>
      </p:sp>
      <p:sp>
        <p:nvSpPr>
          <p:cNvPr id="12" name="TextBox 12"/>
          <p:cNvSpPr txBox="1"/>
          <p:nvPr/>
        </p:nvSpPr>
        <p:spPr>
          <a:xfrm>
            <a:off x="3364146" y="3304087"/>
            <a:ext cx="5431271" cy="5327142"/>
          </a:xfrm>
          <a:prstGeom prst="rect">
            <a:avLst/>
          </a:prstGeom>
        </p:spPr>
        <p:txBody>
          <a:bodyPr lIns="0" tIns="0" rIns="0" bIns="0" rtlCol="0" anchor="t">
            <a:spAutoFit/>
          </a:bodyPr>
          <a:lstStyle/>
          <a:p>
            <a:pPr algn="ctr">
              <a:lnSpc>
                <a:spcPts val="3863"/>
              </a:lnSpc>
              <a:spcBef>
                <a:spcPct val="0"/>
              </a:spcBef>
            </a:pPr>
            <a:r>
              <a:rPr lang="en-US" sz="2799">
                <a:solidFill>
                  <a:srgbClr val="FFFFFF"/>
                </a:solidFill>
                <a:latin typeface="DM Sans"/>
                <a:ea typeface="DM Sans"/>
                <a:cs typeface="DM Sans"/>
                <a:sym typeface="DM Sans"/>
              </a:rPr>
              <a:t>Our goal is to enhance the security and reliability of UID Aadhaar verification by developing an advanced fraud detection system. Using OCR, classification, and detection models, we aim to automate document verification, prevent identity fraud, and ensure a seamless and trustworthy authentication process.</a:t>
            </a:r>
          </a:p>
        </p:txBody>
      </p:sp>
      <p:sp>
        <p:nvSpPr>
          <p:cNvPr id="13" name="TextBox 13"/>
          <p:cNvSpPr txBox="1"/>
          <p:nvPr/>
        </p:nvSpPr>
        <p:spPr>
          <a:xfrm>
            <a:off x="11293908" y="1633498"/>
            <a:ext cx="5648328" cy="628474"/>
          </a:xfrm>
          <a:prstGeom prst="rect">
            <a:avLst/>
          </a:prstGeom>
        </p:spPr>
        <p:txBody>
          <a:bodyPr lIns="0" tIns="0" rIns="0" bIns="0" rtlCol="0" anchor="t">
            <a:spAutoFit/>
          </a:bodyPr>
          <a:lstStyle/>
          <a:p>
            <a:pPr algn="ctr">
              <a:lnSpc>
                <a:spcPts val="5185"/>
              </a:lnSpc>
              <a:spcBef>
                <a:spcPct val="0"/>
              </a:spcBef>
            </a:pPr>
            <a:r>
              <a:rPr lang="en-US" sz="3757" b="1">
                <a:solidFill>
                  <a:srgbClr val="000000"/>
                </a:solidFill>
                <a:latin typeface="DM Sans Bold"/>
                <a:ea typeface="DM Sans Bold"/>
                <a:cs typeface="DM Sans Bold"/>
                <a:sym typeface="DM Sans Bold"/>
              </a:rPr>
              <a:t>PROBLEM STATEMENT</a:t>
            </a:r>
          </a:p>
        </p:txBody>
      </p:sp>
      <p:sp>
        <p:nvSpPr>
          <p:cNvPr id="14" name="TextBox 14"/>
          <p:cNvSpPr txBox="1"/>
          <p:nvPr/>
        </p:nvSpPr>
        <p:spPr>
          <a:xfrm>
            <a:off x="10860359" y="3325127"/>
            <a:ext cx="6104406" cy="3869817"/>
          </a:xfrm>
          <a:prstGeom prst="rect">
            <a:avLst/>
          </a:prstGeom>
        </p:spPr>
        <p:txBody>
          <a:bodyPr lIns="0" tIns="0" rIns="0" bIns="0" rtlCol="0" anchor="t">
            <a:spAutoFit/>
          </a:bodyPr>
          <a:lstStyle/>
          <a:p>
            <a:pPr algn="ctr">
              <a:lnSpc>
                <a:spcPts val="3863"/>
              </a:lnSpc>
              <a:spcBef>
                <a:spcPct val="0"/>
              </a:spcBef>
            </a:pPr>
            <a:r>
              <a:rPr lang="en-US" sz="2799" b="1">
                <a:solidFill>
                  <a:srgbClr val="FFFFFF"/>
                </a:solidFill>
                <a:latin typeface="DM Sans Bold"/>
                <a:ea typeface="DM Sans Bold"/>
                <a:cs typeface="DM Sans Bold"/>
                <a:sym typeface="DM Sans Bold"/>
              </a:rPr>
              <a:t>Fraudulent UID Aadhaar documents pose security risks, and manual verification is slow and error-prone. An AI-driven solution is needed to automate detection, classification, and verification, ensuring accurate and efficient fraud prevention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6073" y="1269829"/>
            <a:ext cx="15979205" cy="7466646"/>
          </a:xfrm>
          <a:custGeom>
            <a:avLst/>
            <a:gdLst/>
            <a:ahLst/>
            <a:cxnLst/>
            <a:rect l="l" t="t" r="r" b="b"/>
            <a:pathLst>
              <a:path w="15979205" h="7466646">
                <a:moveTo>
                  <a:pt x="0" y="0"/>
                </a:moveTo>
                <a:lnTo>
                  <a:pt x="15979204" y="0"/>
                </a:lnTo>
                <a:lnTo>
                  <a:pt x="15979204" y="7466646"/>
                </a:lnTo>
                <a:lnTo>
                  <a:pt x="0" y="74666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623270" y="1737663"/>
            <a:ext cx="1636030" cy="1636030"/>
          </a:xfrm>
          <a:custGeom>
            <a:avLst/>
            <a:gdLst/>
            <a:ahLst/>
            <a:cxnLst/>
            <a:rect l="l" t="t" r="r" b="b"/>
            <a:pathLst>
              <a:path w="1636030" h="1636030">
                <a:moveTo>
                  <a:pt x="0" y="0"/>
                </a:moveTo>
                <a:lnTo>
                  <a:pt x="1636030" y="0"/>
                </a:lnTo>
                <a:lnTo>
                  <a:pt x="1636030" y="1636030"/>
                </a:lnTo>
                <a:lnTo>
                  <a:pt x="0" y="1636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623270" y="4383017"/>
            <a:ext cx="1555197" cy="1240270"/>
          </a:xfrm>
          <a:custGeom>
            <a:avLst/>
            <a:gdLst/>
            <a:ahLst/>
            <a:cxnLst/>
            <a:rect l="l" t="t" r="r" b="b"/>
            <a:pathLst>
              <a:path w="1555197" h="1240270">
                <a:moveTo>
                  <a:pt x="0" y="0"/>
                </a:moveTo>
                <a:lnTo>
                  <a:pt x="1555198" y="0"/>
                </a:lnTo>
                <a:lnTo>
                  <a:pt x="1555198" y="1240270"/>
                </a:lnTo>
                <a:lnTo>
                  <a:pt x="0" y="12402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5669378" y="6788862"/>
            <a:ext cx="1589922" cy="1450803"/>
          </a:xfrm>
          <a:custGeom>
            <a:avLst/>
            <a:gdLst/>
            <a:ahLst/>
            <a:cxnLst/>
            <a:rect l="l" t="t" r="r" b="b"/>
            <a:pathLst>
              <a:path w="1589922" h="1450803">
                <a:moveTo>
                  <a:pt x="0" y="0"/>
                </a:moveTo>
                <a:lnTo>
                  <a:pt x="1589922" y="0"/>
                </a:lnTo>
                <a:lnTo>
                  <a:pt x="1589922" y="1450803"/>
                </a:lnTo>
                <a:lnTo>
                  <a:pt x="0" y="145080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268939" y="2469953"/>
            <a:ext cx="7685438" cy="763905"/>
          </a:xfrm>
          <a:prstGeom prst="rect">
            <a:avLst/>
          </a:prstGeom>
        </p:spPr>
        <p:txBody>
          <a:bodyPr lIns="0" tIns="0" rIns="0" bIns="0" rtlCol="0" anchor="t">
            <a:spAutoFit/>
          </a:bodyPr>
          <a:lstStyle/>
          <a:p>
            <a:pPr algn="ctr">
              <a:lnSpc>
                <a:spcPts val="6209"/>
              </a:lnSpc>
              <a:spcBef>
                <a:spcPct val="0"/>
              </a:spcBef>
            </a:pPr>
            <a:r>
              <a:rPr lang="en-US" sz="4500" b="1">
                <a:solidFill>
                  <a:srgbClr val="FFFFFF"/>
                </a:solidFill>
                <a:latin typeface="DM Sans Bold"/>
                <a:ea typeface="DM Sans Bold"/>
                <a:cs typeface="DM Sans Bold"/>
                <a:sym typeface="DM Sans Bold"/>
              </a:rPr>
              <a:t>SOLUTIONS</a:t>
            </a:r>
          </a:p>
        </p:txBody>
      </p:sp>
      <p:sp>
        <p:nvSpPr>
          <p:cNvPr id="7" name="TextBox 7"/>
          <p:cNvSpPr txBox="1"/>
          <p:nvPr/>
        </p:nvSpPr>
        <p:spPr>
          <a:xfrm>
            <a:off x="2342035" y="3572065"/>
            <a:ext cx="5848626" cy="3937985"/>
          </a:xfrm>
          <a:prstGeom prst="rect">
            <a:avLst/>
          </a:prstGeom>
        </p:spPr>
        <p:txBody>
          <a:bodyPr lIns="0" tIns="0" rIns="0" bIns="0" rtlCol="0" anchor="t">
            <a:spAutoFit/>
          </a:bodyPr>
          <a:lstStyle/>
          <a:p>
            <a:pPr algn="ctr">
              <a:lnSpc>
                <a:spcPts val="3466"/>
              </a:lnSpc>
              <a:spcBef>
                <a:spcPct val="0"/>
              </a:spcBef>
            </a:pPr>
            <a:r>
              <a:rPr lang="en-US" sz="2511">
                <a:solidFill>
                  <a:srgbClr val="FFFFFF"/>
                </a:solidFill>
                <a:latin typeface="DM Sans"/>
                <a:ea typeface="DM Sans"/>
                <a:cs typeface="DM Sans"/>
                <a:sym typeface="DM Sans"/>
              </a:rPr>
              <a:t>An AI-powered fraud detection system for UID Aadhaar using OCR, classification, and detection models. This system automates document verification, accurately identifying fraudulent documents to enhance security, reduce manual effort, and improve the efficiency of identity authentication.</a:t>
            </a:r>
          </a:p>
        </p:txBody>
      </p:sp>
      <p:sp>
        <p:nvSpPr>
          <p:cNvPr id="8" name="TextBox 8"/>
          <p:cNvSpPr txBox="1"/>
          <p:nvPr/>
        </p:nvSpPr>
        <p:spPr>
          <a:xfrm>
            <a:off x="11443786" y="2014658"/>
            <a:ext cx="2700933" cy="763905"/>
          </a:xfrm>
          <a:prstGeom prst="rect">
            <a:avLst/>
          </a:prstGeom>
        </p:spPr>
        <p:txBody>
          <a:bodyPr lIns="0" tIns="0" rIns="0" bIns="0" rtlCol="0" anchor="t">
            <a:spAutoFit/>
          </a:bodyPr>
          <a:lstStyle/>
          <a:p>
            <a:pPr algn="ctr">
              <a:lnSpc>
                <a:spcPts val="6209"/>
              </a:lnSpc>
              <a:spcBef>
                <a:spcPct val="0"/>
              </a:spcBef>
            </a:pPr>
            <a:r>
              <a:rPr lang="en-US" sz="4500" b="1">
                <a:solidFill>
                  <a:srgbClr val="FFFFFF"/>
                </a:solidFill>
                <a:latin typeface="DM Sans Bold"/>
                <a:ea typeface="DM Sans Bold"/>
                <a:cs typeface="DM Sans Bold"/>
                <a:sym typeface="DM Sans Bold"/>
              </a:rPr>
              <a:t>AI Models</a:t>
            </a:r>
          </a:p>
        </p:txBody>
      </p:sp>
      <p:sp>
        <p:nvSpPr>
          <p:cNvPr id="9" name="TextBox 9"/>
          <p:cNvSpPr txBox="1"/>
          <p:nvPr/>
        </p:nvSpPr>
        <p:spPr>
          <a:xfrm>
            <a:off x="10801493" y="4536427"/>
            <a:ext cx="3985519" cy="763905"/>
          </a:xfrm>
          <a:prstGeom prst="rect">
            <a:avLst/>
          </a:prstGeom>
        </p:spPr>
        <p:txBody>
          <a:bodyPr lIns="0" tIns="0" rIns="0" bIns="0" rtlCol="0" anchor="t">
            <a:spAutoFit/>
          </a:bodyPr>
          <a:lstStyle/>
          <a:p>
            <a:pPr algn="ctr">
              <a:lnSpc>
                <a:spcPts val="6209"/>
              </a:lnSpc>
              <a:spcBef>
                <a:spcPct val="0"/>
              </a:spcBef>
            </a:pPr>
            <a:r>
              <a:rPr lang="en-US" sz="4500" b="1">
                <a:solidFill>
                  <a:srgbClr val="FFFFFF"/>
                </a:solidFill>
                <a:latin typeface="DM Sans Bold"/>
                <a:ea typeface="DM Sans Bold"/>
                <a:cs typeface="DM Sans Bold"/>
                <a:sym typeface="DM Sans Bold"/>
              </a:rPr>
              <a:t>Efficiency</a:t>
            </a:r>
          </a:p>
        </p:txBody>
      </p:sp>
      <p:sp>
        <p:nvSpPr>
          <p:cNvPr id="10" name="TextBox 10"/>
          <p:cNvSpPr txBox="1"/>
          <p:nvPr/>
        </p:nvSpPr>
        <p:spPr>
          <a:xfrm>
            <a:off x="10056427" y="6694710"/>
            <a:ext cx="5566843" cy="1544955"/>
          </a:xfrm>
          <a:prstGeom prst="rect">
            <a:avLst/>
          </a:prstGeom>
        </p:spPr>
        <p:txBody>
          <a:bodyPr lIns="0" tIns="0" rIns="0" bIns="0" rtlCol="0" anchor="t">
            <a:spAutoFit/>
          </a:bodyPr>
          <a:lstStyle/>
          <a:p>
            <a:pPr algn="ctr">
              <a:lnSpc>
                <a:spcPts val="6209"/>
              </a:lnSpc>
              <a:spcBef>
                <a:spcPct val="0"/>
              </a:spcBef>
            </a:pPr>
            <a:r>
              <a:rPr lang="en-US" sz="4500" b="1">
                <a:solidFill>
                  <a:srgbClr val="FFFFFF"/>
                </a:solidFill>
                <a:latin typeface="DM Sans Bold"/>
                <a:ea typeface="DM Sans Bold"/>
                <a:cs typeface="DM Sans Bold"/>
                <a:sym typeface="DM Sans Bold"/>
              </a:rPr>
              <a:t>Convenient Security</a:t>
            </a:r>
          </a:p>
        </p:txBody>
      </p:sp>
      <p:sp>
        <p:nvSpPr>
          <p:cNvPr id="11" name="Freeform 11"/>
          <p:cNvSpPr/>
          <p:nvPr/>
        </p:nvSpPr>
        <p:spPr>
          <a:xfrm>
            <a:off x="-1970882" y="7325441"/>
            <a:ext cx="5221722" cy="5221722"/>
          </a:xfrm>
          <a:custGeom>
            <a:avLst/>
            <a:gdLst/>
            <a:ahLst/>
            <a:cxnLst/>
            <a:rect l="l" t="t" r="r" b="b"/>
            <a:pathLst>
              <a:path w="5221722" h="5221722">
                <a:moveTo>
                  <a:pt x="0" y="0"/>
                </a:moveTo>
                <a:lnTo>
                  <a:pt x="5221722" y="0"/>
                </a:lnTo>
                <a:lnTo>
                  <a:pt x="5221722" y="5221722"/>
                </a:lnTo>
                <a:lnTo>
                  <a:pt x="0" y="522172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a:off x="-3525649" y="-2610861"/>
            <a:ext cx="5221722" cy="5221722"/>
          </a:xfrm>
          <a:custGeom>
            <a:avLst/>
            <a:gdLst/>
            <a:ahLst/>
            <a:cxnLst/>
            <a:rect l="l" t="t" r="r" b="b"/>
            <a:pathLst>
              <a:path w="5221722" h="5221722">
                <a:moveTo>
                  <a:pt x="0" y="0"/>
                </a:moveTo>
                <a:lnTo>
                  <a:pt x="5221722" y="0"/>
                </a:lnTo>
                <a:lnTo>
                  <a:pt x="5221722" y="5221722"/>
                </a:lnTo>
                <a:lnTo>
                  <a:pt x="0" y="522172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39071" y="747712"/>
            <a:ext cx="5664637" cy="857250"/>
          </a:xfrm>
          <a:prstGeom prst="rect">
            <a:avLst/>
          </a:prstGeom>
        </p:spPr>
        <p:txBody>
          <a:bodyPr lIns="0" tIns="0" rIns="0" bIns="0" rtlCol="0" anchor="t">
            <a:spAutoFit/>
          </a:bodyPr>
          <a:lstStyle/>
          <a:p>
            <a:pPr algn="ctr">
              <a:lnSpc>
                <a:spcPts val="6900"/>
              </a:lnSpc>
              <a:spcBef>
                <a:spcPct val="0"/>
              </a:spcBef>
            </a:pPr>
            <a:r>
              <a:rPr lang="en-US" sz="5000" b="1" u="sng">
                <a:solidFill>
                  <a:srgbClr val="645CDD"/>
                </a:solidFill>
                <a:latin typeface="DM Sans Bold"/>
                <a:ea typeface="DM Sans Bold"/>
                <a:cs typeface="DM Sans Bold"/>
                <a:sym typeface="DM Sans Bold"/>
              </a:rPr>
              <a:t>TECH STACK USED</a:t>
            </a:r>
          </a:p>
        </p:txBody>
      </p:sp>
      <p:pic>
        <p:nvPicPr>
          <p:cNvPr id="5" name="Picture 4">
            <a:extLst>
              <a:ext uri="{FF2B5EF4-FFF2-40B4-BE49-F238E27FC236}">
                <a16:creationId xmlns:a16="http://schemas.microsoft.com/office/drawing/2014/main" id="{F81E049F-622D-ED68-2C15-446440DA2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1943100"/>
            <a:ext cx="12558353" cy="7070524"/>
          </a:xfrm>
          <a:prstGeom prst="rect">
            <a:avLst/>
          </a:prstGeom>
        </p:spPr>
      </p:pic>
      <p:sp>
        <p:nvSpPr>
          <p:cNvPr id="6" name="Freeform 3">
            <a:extLst>
              <a:ext uri="{FF2B5EF4-FFF2-40B4-BE49-F238E27FC236}">
                <a16:creationId xmlns:a16="http://schemas.microsoft.com/office/drawing/2014/main" id="{5250522D-D461-7A2A-A483-F3711E5C0893}"/>
              </a:ext>
            </a:extLst>
          </p:cNvPr>
          <p:cNvSpPr/>
          <p:nvPr/>
        </p:nvSpPr>
        <p:spPr>
          <a:xfrm>
            <a:off x="-4285787" y="7124208"/>
            <a:ext cx="6325584" cy="6325584"/>
          </a:xfrm>
          <a:custGeom>
            <a:avLst/>
            <a:gdLst/>
            <a:ahLst/>
            <a:cxnLst/>
            <a:rect l="l" t="t" r="r" b="b"/>
            <a:pathLst>
              <a:path w="6325584" h="6325584">
                <a:moveTo>
                  <a:pt x="0" y="0"/>
                </a:moveTo>
                <a:lnTo>
                  <a:pt x="6325584" y="0"/>
                </a:lnTo>
                <a:lnTo>
                  <a:pt x="6325584" y="6325584"/>
                </a:lnTo>
                <a:lnTo>
                  <a:pt x="0" y="63255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5517713" cy="10287000"/>
            <a:chOff x="0" y="0"/>
            <a:chExt cx="7356951" cy="13716000"/>
          </a:xfrm>
        </p:grpSpPr>
        <p:sp>
          <p:nvSpPr>
            <p:cNvPr id="3" name="AutoShape 3"/>
            <p:cNvSpPr/>
            <p:nvPr/>
          </p:nvSpPr>
          <p:spPr>
            <a:xfrm>
              <a:off x="0" y="0"/>
              <a:ext cx="7356951" cy="13716000"/>
            </a:xfrm>
            <a:prstGeom prst="rect">
              <a:avLst/>
            </a:prstGeom>
            <a:solidFill>
              <a:srgbClr val="645CDD"/>
            </a:solidFill>
          </p:spPr>
        </p:sp>
      </p:grpSp>
      <p:sp>
        <p:nvSpPr>
          <p:cNvPr id="4" name="TextBox 4"/>
          <p:cNvSpPr txBox="1"/>
          <p:nvPr/>
        </p:nvSpPr>
        <p:spPr>
          <a:xfrm>
            <a:off x="335078" y="4059555"/>
            <a:ext cx="4546878" cy="2063115"/>
          </a:xfrm>
          <a:prstGeom prst="rect">
            <a:avLst/>
          </a:prstGeom>
        </p:spPr>
        <p:txBody>
          <a:bodyPr lIns="0" tIns="0" rIns="0" bIns="0" rtlCol="0" anchor="t">
            <a:spAutoFit/>
          </a:bodyPr>
          <a:lstStyle/>
          <a:p>
            <a:pPr algn="ctr">
              <a:lnSpc>
                <a:spcPts val="8280"/>
              </a:lnSpc>
            </a:pPr>
            <a:r>
              <a:rPr lang="en-US" sz="6000" b="1">
                <a:solidFill>
                  <a:srgbClr val="FFFFFF"/>
                </a:solidFill>
                <a:latin typeface="DM Sans Bold"/>
                <a:ea typeface="DM Sans Bold"/>
                <a:cs typeface="DM Sans Bold"/>
                <a:sym typeface="DM Sans Bold"/>
              </a:rPr>
              <a:t>PROJECT </a:t>
            </a:r>
          </a:p>
          <a:p>
            <a:pPr algn="ctr">
              <a:lnSpc>
                <a:spcPts val="8280"/>
              </a:lnSpc>
              <a:spcBef>
                <a:spcPct val="0"/>
              </a:spcBef>
            </a:pPr>
            <a:r>
              <a:rPr lang="en-US" sz="6000" b="1">
                <a:solidFill>
                  <a:srgbClr val="FFFFFF"/>
                </a:solidFill>
                <a:latin typeface="DM Sans Bold"/>
                <a:ea typeface="DM Sans Bold"/>
                <a:cs typeface="DM Sans Bold"/>
                <a:sym typeface="DM Sans Bold"/>
              </a:rPr>
              <a:t>WORKFLOW</a:t>
            </a:r>
          </a:p>
        </p:txBody>
      </p:sp>
      <p:sp>
        <p:nvSpPr>
          <p:cNvPr id="5" name="TextBox 5"/>
          <p:cNvSpPr txBox="1"/>
          <p:nvPr/>
        </p:nvSpPr>
        <p:spPr>
          <a:xfrm>
            <a:off x="6007980" y="1529426"/>
            <a:ext cx="552081" cy="637867"/>
          </a:xfrm>
          <a:prstGeom prst="rect">
            <a:avLst/>
          </a:prstGeom>
        </p:spPr>
        <p:txBody>
          <a:bodyPr wrap="square" lIns="0" tIns="0" rIns="0" bIns="0" rtlCol="0" anchor="t">
            <a:spAutoFit/>
          </a:bodyPr>
          <a:lstStyle/>
          <a:p>
            <a:pPr algn="ctr">
              <a:lnSpc>
                <a:spcPts val="5188"/>
              </a:lnSpc>
              <a:spcBef>
                <a:spcPct val="0"/>
              </a:spcBef>
            </a:pPr>
            <a:r>
              <a:rPr lang="en-US" sz="3759" b="1" dirty="0">
                <a:solidFill>
                  <a:srgbClr val="645CDD"/>
                </a:solidFill>
                <a:latin typeface="DM Sans Bold"/>
                <a:ea typeface="DM Sans Bold"/>
                <a:cs typeface="DM Sans Bold"/>
                <a:sym typeface="DM Sans Bold"/>
              </a:rPr>
              <a:t>01</a:t>
            </a:r>
          </a:p>
        </p:txBody>
      </p:sp>
      <p:sp>
        <p:nvSpPr>
          <p:cNvPr id="6" name="TextBox 6"/>
          <p:cNvSpPr txBox="1"/>
          <p:nvPr/>
        </p:nvSpPr>
        <p:spPr>
          <a:xfrm>
            <a:off x="5791200" y="480747"/>
            <a:ext cx="11265622" cy="563359"/>
          </a:xfrm>
          <a:prstGeom prst="rect">
            <a:avLst/>
          </a:prstGeom>
        </p:spPr>
        <p:txBody>
          <a:bodyPr wrap="square" lIns="0" tIns="0" rIns="0" bIns="0" rtlCol="0" anchor="t">
            <a:spAutoFit/>
          </a:bodyPr>
          <a:lstStyle/>
          <a:p>
            <a:pPr algn="ctr">
              <a:lnSpc>
                <a:spcPts val="4554"/>
              </a:lnSpc>
              <a:spcBef>
                <a:spcPct val="0"/>
              </a:spcBef>
            </a:pPr>
            <a:r>
              <a:rPr lang="en-US" sz="3300" b="1" dirty="0">
                <a:solidFill>
                  <a:srgbClr val="645CDD"/>
                </a:solidFill>
                <a:latin typeface="DM Sans Bold"/>
                <a:ea typeface="DM Sans Bold"/>
                <a:cs typeface="DM Sans Bold"/>
                <a:sym typeface="DM Sans Bold"/>
              </a:rPr>
              <a:t>Generating output from input has the following steps:</a:t>
            </a:r>
          </a:p>
        </p:txBody>
      </p:sp>
      <p:sp>
        <p:nvSpPr>
          <p:cNvPr id="7" name="TextBox 7"/>
          <p:cNvSpPr txBox="1"/>
          <p:nvPr/>
        </p:nvSpPr>
        <p:spPr>
          <a:xfrm>
            <a:off x="6623898" y="1550226"/>
            <a:ext cx="5517713" cy="596265"/>
          </a:xfrm>
          <a:prstGeom prst="rect">
            <a:avLst/>
          </a:prstGeom>
        </p:spPr>
        <p:txBody>
          <a:bodyPr wrap="square" lIns="0" tIns="0" rIns="0" bIns="0" rtlCol="0" anchor="t">
            <a:spAutoFit/>
          </a:bodyPr>
          <a:lstStyle/>
          <a:p>
            <a:pPr algn="ctr">
              <a:lnSpc>
                <a:spcPts val="4830"/>
              </a:lnSpc>
              <a:spcBef>
                <a:spcPct val="0"/>
              </a:spcBef>
            </a:pPr>
            <a:r>
              <a:rPr lang="en-US" sz="3500" b="1" dirty="0">
                <a:solidFill>
                  <a:srgbClr val="645CDD"/>
                </a:solidFill>
                <a:latin typeface="DM Sans Bold"/>
                <a:ea typeface="DM Sans Bold"/>
                <a:cs typeface="DM Sans Bold"/>
                <a:sym typeface="DM Sans Bold"/>
              </a:rPr>
              <a:t>Document Classification</a:t>
            </a:r>
          </a:p>
        </p:txBody>
      </p:sp>
      <p:sp>
        <p:nvSpPr>
          <p:cNvPr id="8" name="TextBox 8"/>
          <p:cNvSpPr txBox="1"/>
          <p:nvPr/>
        </p:nvSpPr>
        <p:spPr>
          <a:xfrm>
            <a:off x="6663167" y="2110184"/>
            <a:ext cx="11265622" cy="1036320"/>
          </a:xfrm>
          <a:prstGeom prst="rect">
            <a:avLst/>
          </a:prstGeom>
        </p:spPr>
        <p:txBody>
          <a:bodyPr lIns="0" tIns="0" rIns="0" bIns="0" rtlCol="0" anchor="t">
            <a:spAutoFit/>
          </a:bodyPr>
          <a:lstStyle/>
          <a:p>
            <a:pPr algn="l">
              <a:lnSpc>
                <a:spcPts val="4140"/>
              </a:lnSpc>
              <a:spcBef>
                <a:spcPct val="0"/>
              </a:spcBef>
            </a:pPr>
            <a:r>
              <a:rPr lang="en-US" sz="3000">
                <a:solidFill>
                  <a:srgbClr val="645CDD"/>
                </a:solidFill>
                <a:latin typeface="DM Sans"/>
                <a:ea typeface="DM Sans"/>
                <a:cs typeface="DM Sans"/>
                <a:sym typeface="DM Sans"/>
              </a:rPr>
              <a:t>The model identifies whether the document is an Aadhaar card. If it's not, the process ends; if it is, it moves to the next step.</a:t>
            </a:r>
          </a:p>
        </p:txBody>
      </p:sp>
      <p:sp>
        <p:nvSpPr>
          <p:cNvPr id="9" name="TextBox 9"/>
          <p:cNvSpPr txBox="1"/>
          <p:nvPr/>
        </p:nvSpPr>
        <p:spPr>
          <a:xfrm>
            <a:off x="6022403" y="3539328"/>
            <a:ext cx="611267" cy="1285699"/>
          </a:xfrm>
          <a:prstGeom prst="rect">
            <a:avLst/>
          </a:prstGeom>
        </p:spPr>
        <p:txBody>
          <a:bodyPr lIns="0" tIns="0" rIns="0" bIns="0" rtlCol="0" anchor="t">
            <a:spAutoFit/>
          </a:bodyPr>
          <a:lstStyle/>
          <a:p>
            <a:pPr algn="ctr">
              <a:lnSpc>
                <a:spcPts val="5185"/>
              </a:lnSpc>
            </a:pPr>
            <a:r>
              <a:rPr lang="en-US" sz="3757" b="1" dirty="0">
                <a:solidFill>
                  <a:srgbClr val="645CDD"/>
                </a:solidFill>
                <a:latin typeface="DM Sans Bold"/>
                <a:ea typeface="DM Sans Bold"/>
                <a:cs typeface="DM Sans Bold"/>
                <a:sym typeface="DM Sans Bold"/>
              </a:rPr>
              <a:t>02</a:t>
            </a:r>
          </a:p>
          <a:p>
            <a:pPr algn="ctr">
              <a:lnSpc>
                <a:spcPts val="5185"/>
              </a:lnSpc>
              <a:spcBef>
                <a:spcPct val="0"/>
              </a:spcBef>
            </a:pPr>
            <a:endParaRPr lang="en-US" sz="3757" b="1" dirty="0">
              <a:solidFill>
                <a:srgbClr val="645CDD"/>
              </a:solidFill>
              <a:latin typeface="DM Sans Bold"/>
              <a:ea typeface="DM Sans Bold"/>
              <a:cs typeface="DM Sans Bold"/>
              <a:sym typeface="DM Sans Bold"/>
            </a:endParaRPr>
          </a:p>
        </p:txBody>
      </p:sp>
      <p:sp>
        <p:nvSpPr>
          <p:cNvPr id="10" name="TextBox 10"/>
          <p:cNvSpPr txBox="1"/>
          <p:nvPr/>
        </p:nvSpPr>
        <p:spPr>
          <a:xfrm>
            <a:off x="6747049" y="3525066"/>
            <a:ext cx="3970112" cy="637803"/>
          </a:xfrm>
          <a:prstGeom prst="rect">
            <a:avLst/>
          </a:prstGeom>
        </p:spPr>
        <p:txBody>
          <a:bodyPr wrap="square" lIns="0" tIns="0" rIns="0" bIns="0" rtlCol="0" anchor="t">
            <a:spAutoFit/>
          </a:bodyPr>
          <a:lstStyle/>
          <a:p>
            <a:pPr algn="ctr">
              <a:lnSpc>
                <a:spcPts val="5185"/>
              </a:lnSpc>
              <a:spcBef>
                <a:spcPct val="0"/>
              </a:spcBef>
            </a:pPr>
            <a:r>
              <a:rPr lang="en-US" sz="3757" b="1" dirty="0">
                <a:solidFill>
                  <a:srgbClr val="645CDD"/>
                </a:solidFill>
                <a:latin typeface="DM Sans Bold"/>
                <a:ea typeface="DM Sans Bold"/>
                <a:cs typeface="DM Sans Bold"/>
                <a:sym typeface="DM Sans Bold"/>
              </a:rPr>
              <a:t>Image Detection</a:t>
            </a:r>
          </a:p>
        </p:txBody>
      </p:sp>
      <p:sp>
        <p:nvSpPr>
          <p:cNvPr id="11" name="TextBox 11"/>
          <p:cNvSpPr txBox="1"/>
          <p:nvPr/>
        </p:nvSpPr>
        <p:spPr>
          <a:xfrm>
            <a:off x="6774088" y="4234016"/>
            <a:ext cx="11077667" cy="1036320"/>
          </a:xfrm>
          <a:prstGeom prst="rect">
            <a:avLst/>
          </a:prstGeom>
        </p:spPr>
        <p:txBody>
          <a:bodyPr lIns="0" tIns="0" rIns="0" bIns="0" rtlCol="0" anchor="t">
            <a:spAutoFit/>
          </a:bodyPr>
          <a:lstStyle/>
          <a:p>
            <a:pPr algn="l">
              <a:lnSpc>
                <a:spcPts val="4140"/>
              </a:lnSpc>
              <a:spcBef>
                <a:spcPct val="0"/>
              </a:spcBef>
            </a:pPr>
            <a:r>
              <a:rPr lang="en-US" sz="3000">
                <a:solidFill>
                  <a:srgbClr val="645CDD"/>
                </a:solidFill>
                <a:latin typeface="DM Sans"/>
                <a:ea typeface="DM Sans"/>
                <a:cs typeface="DM Sans"/>
                <a:sym typeface="DM Sans"/>
              </a:rPr>
              <a:t>The detection model scans the Aadhaar document for any signs of tampering or anomalies.</a:t>
            </a:r>
          </a:p>
        </p:txBody>
      </p:sp>
      <p:sp>
        <p:nvSpPr>
          <p:cNvPr id="12" name="TextBox 12"/>
          <p:cNvSpPr txBox="1"/>
          <p:nvPr/>
        </p:nvSpPr>
        <p:spPr>
          <a:xfrm>
            <a:off x="6039875" y="5651480"/>
            <a:ext cx="623292" cy="628474"/>
          </a:xfrm>
          <a:prstGeom prst="rect">
            <a:avLst/>
          </a:prstGeom>
        </p:spPr>
        <p:txBody>
          <a:bodyPr lIns="0" tIns="0" rIns="0" bIns="0" rtlCol="0" anchor="t">
            <a:spAutoFit/>
          </a:bodyPr>
          <a:lstStyle/>
          <a:p>
            <a:pPr algn="ctr">
              <a:lnSpc>
                <a:spcPts val="5185"/>
              </a:lnSpc>
              <a:spcBef>
                <a:spcPct val="0"/>
              </a:spcBef>
            </a:pPr>
            <a:r>
              <a:rPr lang="en-US" sz="3757" b="1" dirty="0">
                <a:solidFill>
                  <a:srgbClr val="645CDD"/>
                </a:solidFill>
                <a:latin typeface="DM Sans Bold"/>
                <a:ea typeface="DM Sans Bold"/>
                <a:cs typeface="DM Sans Bold"/>
                <a:sym typeface="DM Sans Bold"/>
              </a:rPr>
              <a:t>03</a:t>
            </a:r>
          </a:p>
        </p:txBody>
      </p:sp>
      <p:sp>
        <p:nvSpPr>
          <p:cNvPr id="13" name="TextBox 13"/>
          <p:cNvSpPr txBox="1"/>
          <p:nvPr/>
        </p:nvSpPr>
        <p:spPr>
          <a:xfrm>
            <a:off x="6742133" y="5642151"/>
            <a:ext cx="3823572" cy="637803"/>
          </a:xfrm>
          <a:prstGeom prst="rect">
            <a:avLst/>
          </a:prstGeom>
        </p:spPr>
        <p:txBody>
          <a:bodyPr wrap="square" lIns="0" tIns="0" rIns="0" bIns="0" rtlCol="0" anchor="t">
            <a:spAutoFit/>
          </a:bodyPr>
          <a:lstStyle/>
          <a:p>
            <a:pPr algn="ctr">
              <a:lnSpc>
                <a:spcPts val="5185"/>
              </a:lnSpc>
              <a:spcBef>
                <a:spcPct val="0"/>
              </a:spcBef>
            </a:pPr>
            <a:r>
              <a:rPr lang="en-US" sz="3757" b="1" dirty="0">
                <a:solidFill>
                  <a:srgbClr val="645CDD"/>
                </a:solidFill>
                <a:latin typeface="DM Sans Bold"/>
                <a:ea typeface="DM Sans Bold"/>
                <a:cs typeface="DM Sans Bold"/>
                <a:sym typeface="DM Sans Bold"/>
              </a:rPr>
              <a:t>OCR Processing</a:t>
            </a:r>
          </a:p>
        </p:txBody>
      </p:sp>
      <p:sp>
        <p:nvSpPr>
          <p:cNvPr id="14" name="TextBox 14"/>
          <p:cNvSpPr txBox="1"/>
          <p:nvPr/>
        </p:nvSpPr>
        <p:spPr>
          <a:xfrm>
            <a:off x="6774088" y="6365535"/>
            <a:ext cx="11265622" cy="1036320"/>
          </a:xfrm>
          <a:prstGeom prst="rect">
            <a:avLst/>
          </a:prstGeom>
        </p:spPr>
        <p:txBody>
          <a:bodyPr lIns="0" tIns="0" rIns="0" bIns="0" rtlCol="0" anchor="t">
            <a:spAutoFit/>
          </a:bodyPr>
          <a:lstStyle/>
          <a:p>
            <a:pPr algn="l">
              <a:lnSpc>
                <a:spcPts val="4140"/>
              </a:lnSpc>
              <a:spcBef>
                <a:spcPct val="0"/>
              </a:spcBef>
            </a:pPr>
            <a:r>
              <a:rPr lang="en-US" sz="3000">
                <a:solidFill>
                  <a:srgbClr val="645CDD"/>
                </a:solidFill>
                <a:latin typeface="DM Sans"/>
                <a:ea typeface="DM Sans"/>
                <a:cs typeface="DM Sans"/>
                <a:sym typeface="DM Sans"/>
              </a:rPr>
              <a:t>Text is extracted from the document using OCR for comparison and verification.</a:t>
            </a:r>
          </a:p>
        </p:txBody>
      </p:sp>
      <p:sp>
        <p:nvSpPr>
          <p:cNvPr id="15" name="TextBox 15"/>
          <p:cNvSpPr txBox="1"/>
          <p:nvPr/>
        </p:nvSpPr>
        <p:spPr>
          <a:xfrm>
            <a:off x="5979175" y="7789248"/>
            <a:ext cx="644723" cy="628474"/>
          </a:xfrm>
          <a:prstGeom prst="rect">
            <a:avLst/>
          </a:prstGeom>
        </p:spPr>
        <p:txBody>
          <a:bodyPr lIns="0" tIns="0" rIns="0" bIns="0" rtlCol="0" anchor="t">
            <a:spAutoFit/>
          </a:bodyPr>
          <a:lstStyle/>
          <a:p>
            <a:pPr algn="ctr">
              <a:lnSpc>
                <a:spcPts val="5185"/>
              </a:lnSpc>
              <a:spcBef>
                <a:spcPct val="0"/>
              </a:spcBef>
            </a:pPr>
            <a:r>
              <a:rPr lang="en-US" sz="3757" b="1" dirty="0">
                <a:solidFill>
                  <a:srgbClr val="645CDD"/>
                </a:solidFill>
                <a:latin typeface="DM Sans Bold"/>
                <a:ea typeface="DM Sans Bold"/>
                <a:cs typeface="DM Sans Bold"/>
                <a:sym typeface="DM Sans Bold"/>
              </a:rPr>
              <a:t>04</a:t>
            </a:r>
          </a:p>
        </p:txBody>
      </p:sp>
      <p:sp>
        <p:nvSpPr>
          <p:cNvPr id="16" name="TextBox 16"/>
          <p:cNvSpPr txBox="1"/>
          <p:nvPr/>
        </p:nvSpPr>
        <p:spPr>
          <a:xfrm>
            <a:off x="6587115" y="7789248"/>
            <a:ext cx="4849186" cy="637803"/>
          </a:xfrm>
          <a:prstGeom prst="rect">
            <a:avLst/>
          </a:prstGeom>
        </p:spPr>
        <p:txBody>
          <a:bodyPr wrap="square" lIns="0" tIns="0" rIns="0" bIns="0" rtlCol="0" anchor="t">
            <a:spAutoFit/>
          </a:bodyPr>
          <a:lstStyle/>
          <a:p>
            <a:pPr algn="ctr">
              <a:lnSpc>
                <a:spcPts val="5185"/>
              </a:lnSpc>
              <a:spcBef>
                <a:spcPct val="0"/>
              </a:spcBef>
            </a:pPr>
            <a:r>
              <a:rPr lang="en-US" sz="3757" b="1" dirty="0">
                <a:solidFill>
                  <a:srgbClr val="645CDD"/>
                </a:solidFill>
                <a:latin typeface="DM Sans Bold"/>
                <a:ea typeface="DM Sans Bold"/>
                <a:cs typeface="DM Sans Bold"/>
                <a:sym typeface="DM Sans Bold"/>
              </a:rPr>
              <a:t>Matching &amp; Output</a:t>
            </a:r>
          </a:p>
        </p:txBody>
      </p:sp>
      <p:sp>
        <p:nvSpPr>
          <p:cNvPr id="17" name="TextBox 17"/>
          <p:cNvSpPr txBox="1"/>
          <p:nvPr/>
        </p:nvSpPr>
        <p:spPr>
          <a:xfrm>
            <a:off x="6572086" y="8532021"/>
            <a:ext cx="11481671" cy="1036320"/>
          </a:xfrm>
          <a:prstGeom prst="rect">
            <a:avLst/>
          </a:prstGeom>
        </p:spPr>
        <p:txBody>
          <a:bodyPr lIns="0" tIns="0" rIns="0" bIns="0" rtlCol="0" anchor="t">
            <a:spAutoFit/>
          </a:bodyPr>
          <a:lstStyle/>
          <a:p>
            <a:pPr algn="ctr">
              <a:lnSpc>
                <a:spcPts val="4140"/>
              </a:lnSpc>
              <a:spcBef>
                <a:spcPct val="0"/>
              </a:spcBef>
            </a:pPr>
            <a:r>
              <a:rPr lang="en-US" sz="3000" dirty="0">
                <a:solidFill>
                  <a:srgbClr val="645CDD"/>
                </a:solidFill>
                <a:latin typeface="DM Sans"/>
                <a:ea typeface="DM Sans"/>
                <a:cs typeface="DM Sans"/>
                <a:sym typeface="DM Sans"/>
              </a:rPr>
              <a:t>The extracted data is compared to verify authenticity, and the results, including matching scores, are provided in an Excel file.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45CDD"/>
        </a:solidFill>
        <a:effectLst/>
      </p:bgPr>
    </p:bg>
    <p:spTree>
      <p:nvGrpSpPr>
        <p:cNvPr id="1" name=""/>
        <p:cNvGrpSpPr/>
        <p:nvPr/>
      </p:nvGrpSpPr>
      <p:grpSpPr>
        <a:xfrm>
          <a:off x="0" y="0"/>
          <a:ext cx="0" cy="0"/>
          <a:chOff x="0" y="0"/>
          <a:chExt cx="0" cy="0"/>
        </a:xfrm>
      </p:grpSpPr>
      <p:sp>
        <p:nvSpPr>
          <p:cNvPr id="2" name="Freeform 2"/>
          <p:cNvSpPr/>
          <p:nvPr/>
        </p:nvSpPr>
        <p:spPr>
          <a:xfrm>
            <a:off x="1571919" y="4992865"/>
            <a:ext cx="1960967" cy="2146065"/>
          </a:xfrm>
          <a:custGeom>
            <a:avLst/>
            <a:gdLst/>
            <a:ahLst/>
            <a:cxnLst/>
            <a:rect l="l" t="t" r="r" b="b"/>
            <a:pathLst>
              <a:path w="1960967" h="2146065">
                <a:moveTo>
                  <a:pt x="0" y="0"/>
                </a:moveTo>
                <a:lnTo>
                  <a:pt x="1960967" y="0"/>
                </a:lnTo>
                <a:lnTo>
                  <a:pt x="1960967" y="2146064"/>
                </a:lnTo>
                <a:lnTo>
                  <a:pt x="0" y="21460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149521">
            <a:off x="4151617" y="4549907"/>
            <a:ext cx="2276460" cy="2305276"/>
          </a:xfrm>
          <a:custGeom>
            <a:avLst/>
            <a:gdLst/>
            <a:ahLst/>
            <a:cxnLst/>
            <a:rect l="l" t="t" r="r" b="b"/>
            <a:pathLst>
              <a:path w="2276460" h="2305276">
                <a:moveTo>
                  <a:pt x="0" y="0"/>
                </a:moveTo>
                <a:lnTo>
                  <a:pt x="2276460" y="0"/>
                </a:lnTo>
                <a:lnTo>
                  <a:pt x="2276460" y="2305276"/>
                </a:lnTo>
                <a:lnTo>
                  <a:pt x="0" y="2305276"/>
                </a:lnTo>
                <a:lnTo>
                  <a:pt x="0" y="0"/>
                </a:lnTo>
                <a:close/>
              </a:path>
            </a:pathLst>
          </a:custGeom>
          <a:blipFill>
            <a:blip r:embed="rId4"/>
            <a:stretch>
              <a:fillRect/>
            </a:stretch>
          </a:blipFill>
        </p:spPr>
      </p:sp>
      <p:sp>
        <p:nvSpPr>
          <p:cNvPr id="4" name="Freeform 4"/>
          <p:cNvSpPr/>
          <p:nvPr/>
        </p:nvSpPr>
        <p:spPr>
          <a:xfrm rot="2149521">
            <a:off x="10773340" y="6846784"/>
            <a:ext cx="2276460" cy="2305276"/>
          </a:xfrm>
          <a:custGeom>
            <a:avLst/>
            <a:gdLst/>
            <a:ahLst/>
            <a:cxnLst/>
            <a:rect l="l" t="t" r="r" b="b"/>
            <a:pathLst>
              <a:path w="2276460" h="2305276">
                <a:moveTo>
                  <a:pt x="0" y="0"/>
                </a:moveTo>
                <a:lnTo>
                  <a:pt x="2276461" y="0"/>
                </a:lnTo>
                <a:lnTo>
                  <a:pt x="2276461" y="2305277"/>
                </a:lnTo>
                <a:lnTo>
                  <a:pt x="0" y="2305277"/>
                </a:lnTo>
                <a:lnTo>
                  <a:pt x="0" y="0"/>
                </a:lnTo>
                <a:close/>
              </a:path>
            </a:pathLst>
          </a:custGeom>
          <a:blipFill>
            <a:blip r:embed="rId4"/>
            <a:stretch>
              <a:fillRect/>
            </a:stretch>
          </a:blipFill>
        </p:spPr>
      </p:sp>
      <p:sp>
        <p:nvSpPr>
          <p:cNvPr id="5" name="Freeform 5"/>
          <p:cNvSpPr/>
          <p:nvPr/>
        </p:nvSpPr>
        <p:spPr>
          <a:xfrm>
            <a:off x="8258732" y="7303334"/>
            <a:ext cx="1874323" cy="1954966"/>
          </a:xfrm>
          <a:custGeom>
            <a:avLst/>
            <a:gdLst/>
            <a:ahLst/>
            <a:cxnLst/>
            <a:rect l="l" t="t" r="r" b="b"/>
            <a:pathLst>
              <a:path w="1874323" h="1954966">
                <a:moveTo>
                  <a:pt x="0" y="0"/>
                </a:moveTo>
                <a:lnTo>
                  <a:pt x="1874323" y="0"/>
                </a:lnTo>
                <a:lnTo>
                  <a:pt x="1874323" y="1954966"/>
                </a:lnTo>
                <a:lnTo>
                  <a:pt x="0" y="19549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5093815" y="412416"/>
            <a:ext cx="8415296" cy="1183005"/>
          </a:xfrm>
          <a:prstGeom prst="rect">
            <a:avLst/>
          </a:prstGeom>
        </p:spPr>
        <p:txBody>
          <a:bodyPr wrap="square" lIns="0" tIns="0" rIns="0" bIns="0" rtlCol="0" anchor="t">
            <a:spAutoFit/>
          </a:bodyPr>
          <a:lstStyle/>
          <a:p>
            <a:pPr algn="ctr">
              <a:lnSpc>
                <a:spcPts val="9659"/>
              </a:lnSpc>
              <a:spcBef>
                <a:spcPct val="0"/>
              </a:spcBef>
            </a:pPr>
            <a:r>
              <a:rPr lang="en-US" sz="6999" b="1" dirty="0">
                <a:solidFill>
                  <a:srgbClr val="FFFFFF"/>
                </a:solidFill>
                <a:latin typeface="DM Sans Bold"/>
                <a:ea typeface="DM Sans Bold"/>
                <a:cs typeface="DM Sans Bold"/>
                <a:sym typeface="DM Sans Bold"/>
              </a:rPr>
              <a:t>UPLOADING FILES</a:t>
            </a:r>
          </a:p>
        </p:txBody>
      </p:sp>
      <p:sp>
        <p:nvSpPr>
          <p:cNvPr id="7" name="TextBox 7"/>
          <p:cNvSpPr txBox="1"/>
          <p:nvPr/>
        </p:nvSpPr>
        <p:spPr>
          <a:xfrm>
            <a:off x="863875" y="2064374"/>
            <a:ext cx="16560249" cy="2084070"/>
          </a:xfrm>
          <a:prstGeom prst="rect">
            <a:avLst/>
          </a:prstGeom>
        </p:spPr>
        <p:txBody>
          <a:bodyPr lIns="0" tIns="0" rIns="0" bIns="0" rtlCol="0" anchor="t">
            <a:spAutoFit/>
          </a:bodyPr>
          <a:lstStyle/>
          <a:p>
            <a:pPr algn="just">
              <a:lnSpc>
                <a:spcPts val="4140"/>
              </a:lnSpc>
              <a:spcBef>
                <a:spcPct val="0"/>
              </a:spcBef>
            </a:pPr>
            <a:r>
              <a:rPr lang="en-US" sz="3000" b="1" dirty="0">
                <a:solidFill>
                  <a:srgbClr val="FFFFFF"/>
                </a:solidFill>
                <a:latin typeface="DM Sans Bold"/>
                <a:ea typeface="DM Sans Bold"/>
                <a:cs typeface="DM Sans Bold"/>
                <a:sym typeface="DM Sans Bold"/>
              </a:rPr>
              <a:t>Users provide a ZIP file with Aadhaar images and an Excel file with metadata. The system classifies the images, detects tampering, and extracts text via OCR. It compares the extracted data with the metadata and generates an output Excel file with matching scores and fraud detection results.</a:t>
            </a:r>
          </a:p>
        </p:txBody>
      </p:sp>
      <p:sp>
        <p:nvSpPr>
          <p:cNvPr id="8" name="TextBox 8"/>
          <p:cNvSpPr txBox="1"/>
          <p:nvPr/>
        </p:nvSpPr>
        <p:spPr>
          <a:xfrm>
            <a:off x="7225142" y="5086350"/>
            <a:ext cx="1849041" cy="628474"/>
          </a:xfrm>
          <a:prstGeom prst="rect">
            <a:avLst/>
          </a:prstGeom>
        </p:spPr>
        <p:txBody>
          <a:bodyPr lIns="0" tIns="0" rIns="0" bIns="0" rtlCol="0" anchor="t">
            <a:spAutoFit/>
          </a:bodyPr>
          <a:lstStyle/>
          <a:p>
            <a:pPr algn="ctr">
              <a:lnSpc>
                <a:spcPts val="5185"/>
              </a:lnSpc>
              <a:spcBef>
                <a:spcPct val="0"/>
              </a:spcBef>
            </a:pPr>
            <a:r>
              <a:rPr lang="en-US" sz="3757" b="1">
                <a:solidFill>
                  <a:srgbClr val="FFFFFF"/>
                </a:solidFill>
                <a:latin typeface="DM Sans Bold"/>
                <a:ea typeface="DM Sans Bold"/>
                <a:cs typeface="DM Sans Bold"/>
                <a:sym typeface="DM Sans Bold"/>
              </a:rPr>
              <a:t>ZIP Files</a:t>
            </a:r>
          </a:p>
        </p:txBody>
      </p:sp>
      <p:sp>
        <p:nvSpPr>
          <p:cNvPr id="9" name="TextBox 9"/>
          <p:cNvSpPr txBox="1"/>
          <p:nvPr/>
        </p:nvSpPr>
        <p:spPr>
          <a:xfrm>
            <a:off x="13690963" y="7444511"/>
            <a:ext cx="2402086" cy="628474"/>
          </a:xfrm>
          <a:prstGeom prst="rect">
            <a:avLst/>
          </a:prstGeom>
        </p:spPr>
        <p:txBody>
          <a:bodyPr lIns="0" tIns="0" rIns="0" bIns="0" rtlCol="0" anchor="t">
            <a:spAutoFit/>
          </a:bodyPr>
          <a:lstStyle/>
          <a:p>
            <a:pPr algn="ctr">
              <a:lnSpc>
                <a:spcPts val="5185"/>
              </a:lnSpc>
              <a:spcBef>
                <a:spcPct val="0"/>
              </a:spcBef>
            </a:pPr>
            <a:r>
              <a:rPr lang="en-US" sz="3757" b="1">
                <a:solidFill>
                  <a:srgbClr val="FFFFFF"/>
                </a:solidFill>
                <a:latin typeface="DM Sans Bold"/>
                <a:ea typeface="DM Sans Bold"/>
                <a:cs typeface="DM Sans Bold"/>
                <a:sym typeface="DM Sans Bold"/>
              </a:rPr>
              <a:t>Excel Files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418148"/>
            <a:ext cx="18434963" cy="3264586"/>
          </a:xfrm>
          <a:prstGeom prst="rect">
            <a:avLst/>
          </a:prstGeom>
          <a:solidFill>
            <a:srgbClr val="5F5FD3"/>
          </a:solidFill>
        </p:spPr>
      </p:sp>
      <p:sp>
        <p:nvSpPr>
          <p:cNvPr id="3" name="Freeform 3"/>
          <p:cNvSpPr/>
          <p:nvPr/>
        </p:nvSpPr>
        <p:spPr>
          <a:xfrm>
            <a:off x="6053255" y="6161842"/>
            <a:ext cx="5803561" cy="3624918"/>
          </a:xfrm>
          <a:custGeom>
            <a:avLst/>
            <a:gdLst/>
            <a:ahLst/>
            <a:cxnLst/>
            <a:rect l="l" t="t" r="r" b="b"/>
            <a:pathLst>
              <a:path w="5803561" h="3624918">
                <a:moveTo>
                  <a:pt x="0" y="0"/>
                </a:moveTo>
                <a:lnTo>
                  <a:pt x="5803561" y="0"/>
                </a:lnTo>
                <a:lnTo>
                  <a:pt x="5803561" y="3624918"/>
                </a:lnTo>
                <a:lnTo>
                  <a:pt x="0" y="3624918"/>
                </a:lnTo>
                <a:lnTo>
                  <a:pt x="0" y="0"/>
                </a:lnTo>
                <a:close/>
              </a:path>
            </a:pathLst>
          </a:custGeom>
          <a:blipFill>
            <a:blip r:embed="rId2"/>
            <a:stretch>
              <a:fillRect t="-195" r="-3430" b="-195"/>
            </a:stretch>
          </a:blipFill>
        </p:spPr>
      </p:sp>
      <p:sp>
        <p:nvSpPr>
          <p:cNvPr id="4" name="TextBox 4"/>
          <p:cNvSpPr txBox="1"/>
          <p:nvPr/>
        </p:nvSpPr>
        <p:spPr>
          <a:xfrm>
            <a:off x="2024411" y="942975"/>
            <a:ext cx="14885432" cy="922020"/>
          </a:xfrm>
          <a:prstGeom prst="rect">
            <a:avLst/>
          </a:prstGeom>
        </p:spPr>
        <p:txBody>
          <a:bodyPr lIns="0" tIns="0" rIns="0" bIns="0" rtlCol="0" anchor="t">
            <a:spAutoFit/>
          </a:bodyPr>
          <a:lstStyle/>
          <a:p>
            <a:pPr algn="ctr">
              <a:lnSpc>
                <a:spcPts val="7589"/>
              </a:lnSpc>
              <a:spcBef>
                <a:spcPct val="0"/>
              </a:spcBef>
            </a:pPr>
            <a:r>
              <a:rPr lang="en-US" sz="5499" b="1">
                <a:solidFill>
                  <a:srgbClr val="FFFFFF"/>
                </a:solidFill>
                <a:latin typeface="DM Sans Bold"/>
                <a:ea typeface="DM Sans Bold"/>
                <a:cs typeface="DM Sans Bold"/>
                <a:sym typeface="DM Sans Bold"/>
              </a:rPr>
              <a:t>DATASET USED FOR TRAINING THE MODELS  </a:t>
            </a:r>
          </a:p>
        </p:txBody>
      </p:sp>
      <p:sp>
        <p:nvSpPr>
          <p:cNvPr id="5" name="TextBox 5"/>
          <p:cNvSpPr txBox="1"/>
          <p:nvPr/>
        </p:nvSpPr>
        <p:spPr>
          <a:xfrm>
            <a:off x="0" y="3078238"/>
            <a:ext cx="18147081" cy="4669805"/>
          </a:xfrm>
          <a:prstGeom prst="rect">
            <a:avLst/>
          </a:prstGeom>
        </p:spPr>
        <p:txBody>
          <a:bodyPr lIns="0" tIns="0" rIns="0" bIns="0" rtlCol="0" anchor="t">
            <a:spAutoFit/>
          </a:bodyPr>
          <a:lstStyle/>
          <a:p>
            <a:pPr marL="690881" lvl="1" indent="-345440" algn="l">
              <a:lnSpc>
                <a:spcPts val="4416"/>
              </a:lnSpc>
              <a:buFont typeface="Arial"/>
              <a:buChar char="•"/>
            </a:pPr>
            <a:r>
              <a:rPr lang="en-US" sz="3200" b="1" dirty="0">
                <a:solidFill>
                  <a:srgbClr val="645CDD"/>
                </a:solidFill>
                <a:latin typeface="DM Sans Bold"/>
                <a:ea typeface="DM Sans Bold"/>
                <a:cs typeface="DM Sans Bold"/>
                <a:sym typeface="DM Sans Bold"/>
              </a:rPr>
              <a:t>The unstructured data containing blurry, low-resolution, distorted, poorly lit </a:t>
            </a:r>
            <a:r>
              <a:rPr lang="en-US" sz="3200" b="1" dirty="0" err="1">
                <a:solidFill>
                  <a:srgbClr val="645CDD"/>
                </a:solidFill>
                <a:latin typeface="DM Sans Bold"/>
                <a:ea typeface="DM Sans Bold"/>
                <a:cs typeface="DM Sans Bold"/>
                <a:sym typeface="DM Sans Bold"/>
              </a:rPr>
              <a:t>aadhar</a:t>
            </a:r>
            <a:r>
              <a:rPr lang="en-US" sz="3200" b="1" dirty="0">
                <a:solidFill>
                  <a:srgbClr val="645CDD"/>
                </a:solidFill>
                <a:latin typeface="DM Sans Bold"/>
                <a:ea typeface="DM Sans Bold"/>
                <a:cs typeface="DM Sans Bold"/>
                <a:sym typeface="DM Sans Bold"/>
              </a:rPr>
              <a:t> and non-</a:t>
            </a:r>
            <a:r>
              <a:rPr lang="en-US" sz="3200" b="1" dirty="0" err="1">
                <a:solidFill>
                  <a:srgbClr val="645CDD"/>
                </a:solidFill>
                <a:latin typeface="DM Sans Bold"/>
                <a:ea typeface="DM Sans Bold"/>
                <a:cs typeface="DM Sans Bold"/>
                <a:sym typeface="DM Sans Bold"/>
              </a:rPr>
              <a:t>aadhar</a:t>
            </a:r>
            <a:r>
              <a:rPr lang="en-US" sz="3200" b="1" dirty="0">
                <a:solidFill>
                  <a:srgbClr val="645CDD"/>
                </a:solidFill>
                <a:latin typeface="DM Sans Bold"/>
                <a:ea typeface="DM Sans Bold"/>
                <a:cs typeface="DM Sans Bold"/>
                <a:sym typeface="DM Sans Bold"/>
              </a:rPr>
              <a:t> images is converted into structured data by applying image preprocessing steps such as resizing, </a:t>
            </a:r>
            <a:r>
              <a:rPr lang="en-US" sz="3200" b="1" dirty="0" err="1">
                <a:solidFill>
                  <a:srgbClr val="645CDD"/>
                </a:solidFill>
                <a:latin typeface="DM Sans Bold"/>
                <a:ea typeface="DM Sans Bold"/>
                <a:cs typeface="DM Sans Bold"/>
                <a:sym typeface="DM Sans Bold"/>
              </a:rPr>
              <a:t>grayscaling</a:t>
            </a:r>
            <a:r>
              <a:rPr lang="en-US" sz="3200" b="1" dirty="0">
                <a:solidFill>
                  <a:srgbClr val="645CDD"/>
                </a:solidFill>
                <a:latin typeface="DM Sans Bold"/>
                <a:ea typeface="DM Sans Bold"/>
                <a:cs typeface="DM Sans Bold"/>
                <a:sym typeface="DM Sans Bold"/>
              </a:rPr>
              <a:t>, normalization, contrast enhancement, etc.</a:t>
            </a:r>
          </a:p>
          <a:p>
            <a:pPr algn="l">
              <a:lnSpc>
                <a:spcPts val="4416"/>
              </a:lnSpc>
            </a:pPr>
            <a:endParaRPr lang="en-US" sz="3200" b="1" dirty="0">
              <a:solidFill>
                <a:srgbClr val="645CDD"/>
              </a:solidFill>
              <a:latin typeface="DM Sans Bold"/>
              <a:ea typeface="DM Sans Bold"/>
              <a:cs typeface="DM Sans Bold"/>
              <a:sym typeface="DM Sans Bold"/>
            </a:endParaRPr>
          </a:p>
          <a:p>
            <a:pPr marL="690881" lvl="1" indent="-345440" algn="l">
              <a:lnSpc>
                <a:spcPts val="4416"/>
              </a:lnSpc>
              <a:buFont typeface="Arial"/>
              <a:buChar char="•"/>
            </a:pPr>
            <a:r>
              <a:rPr lang="en-US" sz="3200" b="1" dirty="0">
                <a:solidFill>
                  <a:srgbClr val="645CDD"/>
                </a:solidFill>
                <a:latin typeface="DM Sans Bold"/>
                <a:ea typeface="DM Sans Bold"/>
                <a:cs typeface="DM Sans Bold"/>
                <a:sym typeface="DM Sans Bold"/>
              </a:rPr>
              <a:t>The structured data is then used to train the classification, detection and the OCR model.</a:t>
            </a:r>
            <a:endParaRPr lang="en-US" sz="3200" b="1" dirty="0">
              <a:solidFill>
                <a:srgbClr val="000000"/>
              </a:solidFill>
              <a:latin typeface="DM Sans Bold"/>
              <a:ea typeface="DM Sans Bold"/>
              <a:cs typeface="DM Sans Bold"/>
              <a:sym typeface="DM Sans Bold"/>
            </a:endParaRPr>
          </a:p>
          <a:p>
            <a:pPr algn="ctr">
              <a:lnSpc>
                <a:spcPts val="5185"/>
              </a:lnSpc>
            </a:pPr>
            <a:endParaRPr lang="en-US" sz="3200" b="1" dirty="0">
              <a:solidFill>
                <a:srgbClr val="000000"/>
              </a:solidFill>
              <a:latin typeface="DM Sans Bold"/>
              <a:ea typeface="DM Sans Bold"/>
              <a:cs typeface="DM Sans Bold"/>
              <a:sym typeface="DM Sans Bold"/>
            </a:endParaRPr>
          </a:p>
          <a:p>
            <a:pPr algn="ctr">
              <a:lnSpc>
                <a:spcPts val="5185"/>
              </a:lnSpc>
              <a:spcBef>
                <a:spcPct val="0"/>
              </a:spcBef>
            </a:pPr>
            <a:endParaRPr lang="en-US" sz="3200" b="1" dirty="0">
              <a:solidFill>
                <a:srgbClr val="000000"/>
              </a:solidFill>
              <a:latin typeface="DM Sans Bold"/>
              <a:ea typeface="DM Sans Bold"/>
              <a:cs typeface="DM Sans Bold"/>
              <a:sym typeface="DM Sans Bold"/>
            </a:endParaRPr>
          </a:p>
        </p:txBody>
      </p:sp>
      <p:sp>
        <p:nvSpPr>
          <p:cNvPr id="6" name="TextBox 6"/>
          <p:cNvSpPr txBox="1"/>
          <p:nvPr/>
        </p:nvSpPr>
        <p:spPr>
          <a:xfrm>
            <a:off x="6400800" y="9786760"/>
            <a:ext cx="4866727" cy="342594"/>
          </a:xfrm>
          <a:prstGeom prst="rect">
            <a:avLst/>
          </a:prstGeom>
        </p:spPr>
        <p:txBody>
          <a:bodyPr wrap="square" lIns="0" tIns="0" rIns="0" bIns="0" rtlCol="0" anchor="t">
            <a:spAutoFit/>
          </a:bodyPr>
          <a:lstStyle/>
          <a:p>
            <a:pPr algn="ctr">
              <a:lnSpc>
                <a:spcPts val="2760"/>
              </a:lnSpc>
              <a:spcBef>
                <a:spcPct val="0"/>
              </a:spcBef>
            </a:pPr>
            <a:r>
              <a:rPr lang="en-US" sz="2000" i="1" dirty="0" err="1">
                <a:solidFill>
                  <a:srgbClr val="000000"/>
                </a:solidFill>
                <a:latin typeface="DM Sans Italics"/>
                <a:ea typeface="DM Sans Italics"/>
                <a:cs typeface="DM Sans Italics"/>
                <a:sym typeface="DM Sans Italics"/>
              </a:rPr>
              <a:t>Img</a:t>
            </a:r>
            <a:r>
              <a:rPr lang="en-US" sz="2000" i="1" dirty="0">
                <a:solidFill>
                  <a:srgbClr val="000000"/>
                </a:solidFill>
                <a:latin typeface="DM Sans Italics"/>
                <a:ea typeface="DM Sans Italics"/>
                <a:cs typeface="DM Sans Italics"/>
                <a:sym typeface="DM Sans Italics"/>
              </a:rPr>
              <a:t>: Sample dataset of Structured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45CDD"/>
        </a:solidFill>
        <a:effectLst/>
      </p:bgPr>
    </p:bg>
    <p:spTree>
      <p:nvGrpSpPr>
        <p:cNvPr id="1" name=""/>
        <p:cNvGrpSpPr/>
        <p:nvPr/>
      </p:nvGrpSpPr>
      <p:grpSpPr>
        <a:xfrm>
          <a:off x="0" y="0"/>
          <a:ext cx="0" cy="0"/>
          <a:chOff x="0" y="0"/>
          <a:chExt cx="0" cy="0"/>
        </a:xfrm>
      </p:grpSpPr>
      <p:grpSp>
        <p:nvGrpSpPr>
          <p:cNvPr id="2" name="Group 2"/>
          <p:cNvGrpSpPr/>
          <p:nvPr/>
        </p:nvGrpSpPr>
        <p:grpSpPr>
          <a:xfrm>
            <a:off x="7016380" y="2696638"/>
            <a:ext cx="4161751" cy="1490052"/>
            <a:chOff x="0" y="0"/>
            <a:chExt cx="2565722" cy="918618"/>
          </a:xfrm>
        </p:grpSpPr>
        <p:sp>
          <p:nvSpPr>
            <p:cNvPr id="3" name="Freeform 3"/>
            <p:cNvSpPr/>
            <p:nvPr/>
          </p:nvSpPr>
          <p:spPr>
            <a:xfrm>
              <a:off x="0" y="0"/>
              <a:ext cx="2565722" cy="918618"/>
            </a:xfrm>
            <a:custGeom>
              <a:avLst/>
              <a:gdLst/>
              <a:ahLst/>
              <a:cxnLst/>
              <a:rect l="l" t="t" r="r" b="b"/>
              <a:pathLst>
                <a:path w="2565722" h="918618">
                  <a:moveTo>
                    <a:pt x="0" y="0"/>
                  </a:moveTo>
                  <a:lnTo>
                    <a:pt x="2362522" y="0"/>
                  </a:lnTo>
                  <a:lnTo>
                    <a:pt x="2565722" y="459309"/>
                  </a:lnTo>
                  <a:lnTo>
                    <a:pt x="2362522" y="918618"/>
                  </a:lnTo>
                  <a:lnTo>
                    <a:pt x="0" y="918618"/>
                  </a:lnTo>
                  <a:lnTo>
                    <a:pt x="203200" y="459309"/>
                  </a:lnTo>
                  <a:lnTo>
                    <a:pt x="0" y="0"/>
                  </a:lnTo>
                  <a:close/>
                </a:path>
              </a:pathLst>
            </a:custGeom>
            <a:solidFill>
              <a:srgbClr val="0071C9"/>
            </a:solidFill>
          </p:spPr>
        </p:sp>
        <p:sp>
          <p:nvSpPr>
            <p:cNvPr id="4" name="TextBox 4"/>
            <p:cNvSpPr txBox="1"/>
            <p:nvPr/>
          </p:nvSpPr>
          <p:spPr>
            <a:xfrm>
              <a:off x="177800" y="-38100"/>
              <a:ext cx="2311722" cy="956718"/>
            </a:xfrm>
            <a:prstGeom prst="rect">
              <a:avLst/>
            </a:prstGeom>
          </p:spPr>
          <p:txBody>
            <a:bodyPr lIns="50800" tIns="50800" rIns="50800" bIns="50800" rtlCol="0" anchor="ctr"/>
            <a:lstStyle/>
            <a:p>
              <a:pPr algn="ctr">
                <a:lnSpc>
                  <a:spcPts val="2605"/>
                </a:lnSpc>
              </a:pPr>
              <a:endParaRPr/>
            </a:p>
          </p:txBody>
        </p:sp>
      </p:grpSp>
      <p:grpSp>
        <p:nvGrpSpPr>
          <p:cNvPr id="5" name="Group 5"/>
          <p:cNvGrpSpPr/>
          <p:nvPr/>
        </p:nvGrpSpPr>
        <p:grpSpPr>
          <a:xfrm rot="-10800000">
            <a:off x="6007498" y="4243840"/>
            <a:ext cx="4161751" cy="1481735"/>
            <a:chOff x="0" y="0"/>
            <a:chExt cx="2565722" cy="913491"/>
          </a:xfrm>
        </p:grpSpPr>
        <p:sp>
          <p:nvSpPr>
            <p:cNvPr id="6" name="Freeform 6"/>
            <p:cNvSpPr/>
            <p:nvPr/>
          </p:nvSpPr>
          <p:spPr>
            <a:xfrm>
              <a:off x="0" y="0"/>
              <a:ext cx="2565722" cy="913491"/>
            </a:xfrm>
            <a:custGeom>
              <a:avLst/>
              <a:gdLst/>
              <a:ahLst/>
              <a:cxnLst/>
              <a:rect l="l" t="t" r="r" b="b"/>
              <a:pathLst>
                <a:path w="2565722" h="913491">
                  <a:moveTo>
                    <a:pt x="0" y="0"/>
                  </a:moveTo>
                  <a:lnTo>
                    <a:pt x="2362522" y="0"/>
                  </a:lnTo>
                  <a:lnTo>
                    <a:pt x="2565722" y="456745"/>
                  </a:lnTo>
                  <a:lnTo>
                    <a:pt x="2362522" y="913491"/>
                  </a:lnTo>
                  <a:lnTo>
                    <a:pt x="0" y="913491"/>
                  </a:lnTo>
                  <a:lnTo>
                    <a:pt x="203200" y="456745"/>
                  </a:lnTo>
                  <a:lnTo>
                    <a:pt x="0" y="0"/>
                  </a:lnTo>
                  <a:close/>
                </a:path>
              </a:pathLst>
            </a:custGeom>
            <a:solidFill>
              <a:srgbClr val="56AEFF"/>
            </a:solidFill>
          </p:spPr>
        </p:sp>
        <p:sp>
          <p:nvSpPr>
            <p:cNvPr id="7" name="TextBox 7"/>
            <p:cNvSpPr txBox="1"/>
            <p:nvPr/>
          </p:nvSpPr>
          <p:spPr>
            <a:xfrm>
              <a:off x="177800" y="-38100"/>
              <a:ext cx="2311722" cy="951591"/>
            </a:xfrm>
            <a:prstGeom prst="rect">
              <a:avLst/>
            </a:prstGeom>
          </p:spPr>
          <p:txBody>
            <a:bodyPr lIns="50800" tIns="50800" rIns="50800" bIns="50800" rtlCol="0" anchor="ctr"/>
            <a:lstStyle/>
            <a:p>
              <a:pPr algn="ctr">
                <a:lnSpc>
                  <a:spcPts val="2605"/>
                </a:lnSpc>
              </a:pPr>
              <a:endParaRPr/>
            </a:p>
          </p:txBody>
        </p:sp>
      </p:grpSp>
      <p:grpSp>
        <p:nvGrpSpPr>
          <p:cNvPr id="8" name="Group 8"/>
          <p:cNvGrpSpPr/>
          <p:nvPr/>
        </p:nvGrpSpPr>
        <p:grpSpPr>
          <a:xfrm rot="-10800000">
            <a:off x="6007498" y="7360833"/>
            <a:ext cx="4161751" cy="1559371"/>
            <a:chOff x="0" y="0"/>
            <a:chExt cx="2565722" cy="961353"/>
          </a:xfrm>
        </p:grpSpPr>
        <p:sp>
          <p:nvSpPr>
            <p:cNvPr id="9" name="Freeform 9"/>
            <p:cNvSpPr/>
            <p:nvPr/>
          </p:nvSpPr>
          <p:spPr>
            <a:xfrm>
              <a:off x="0" y="0"/>
              <a:ext cx="2565722" cy="961353"/>
            </a:xfrm>
            <a:custGeom>
              <a:avLst/>
              <a:gdLst/>
              <a:ahLst/>
              <a:cxnLst/>
              <a:rect l="l" t="t" r="r" b="b"/>
              <a:pathLst>
                <a:path w="2565722" h="961353">
                  <a:moveTo>
                    <a:pt x="0" y="0"/>
                  </a:moveTo>
                  <a:lnTo>
                    <a:pt x="2362522" y="0"/>
                  </a:lnTo>
                  <a:lnTo>
                    <a:pt x="2565722" y="480677"/>
                  </a:lnTo>
                  <a:lnTo>
                    <a:pt x="2362522" y="961353"/>
                  </a:lnTo>
                  <a:lnTo>
                    <a:pt x="0" y="961353"/>
                  </a:lnTo>
                  <a:lnTo>
                    <a:pt x="203200" y="480677"/>
                  </a:lnTo>
                  <a:lnTo>
                    <a:pt x="0" y="0"/>
                  </a:lnTo>
                  <a:close/>
                </a:path>
              </a:pathLst>
            </a:custGeom>
            <a:solidFill>
              <a:srgbClr val="4BD1FB"/>
            </a:solidFill>
          </p:spPr>
        </p:sp>
        <p:sp>
          <p:nvSpPr>
            <p:cNvPr id="10" name="TextBox 10"/>
            <p:cNvSpPr txBox="1"/>
            <p:nvPr/>
          </p:nvSpPr>
          <p:spPr>
            <a:xfrm>
              <a:off x="177800" y="-38100"/>
              <a:ext cx="2311722" cy="999453"/>
            </a:xfrm>
            <a:prstGeom prst="rect">
              <a:avLst/>
            </a:prstGeom>
          </p:spPr>
          <p:txBody>
            <a:bodyPr lIns="50800" tIns="50800" rIns="50800" bIns="50800" rtlCol="0" anchor="ctr"/>
            <a:lstStyle/>
            <a:p>
              <a:pPr algn="ctr">
                <a:lnSpc>
                  <a:spcPts val="2605"/>
                </a:lnSpc>
              </a:pPr>
              <a:endParaRPr/>
            </a:p>
          </p:txBody>
        </p:sp>
      </p:grpSp>
      <p:grpSp>
        <p:nvGrpSpPr>
          <p:cNvPr id="11" name="Group 11"/>
          <p:cNvGrpSpPr/>
          <p:nvPr/>
        </p:nvGrpSpPr>
        <p:grpSpPr>
          <a:xfrm>
            <a:off x="7063125" y="5854863"/>
            <a:ext cx="4161751" cy="1372620"/>
            <a:chOff x="0" y="0"/>
            <a:chExt cx="2565722" cy="846221"/>
          </a:xfrm>
        </p:grpSpPr>
        <p:sp>
          <p:nvSpPr>
            <p:cNvPr id="12" name="Freeform 12"/>
            <p:cNvSpPr/>
            <p:nvPr/>
          </p:nvSpPr>
          <p:spPr>
            <a:xfrm>
              <a:off x="0" y="0"/>
              <a:ext cx="2565722" cy="846221"/>
            </a:xfrm>
            <a:custGeom>
              <a:avLst/>
              <a:gdLst/>
              <a:ahLst/>
              <a:cxnLst/>
              <a:rect l="l" t="t" r="r" b="b"/>
              <a:pathLst>
                <a:path w="2565722" h="846221">
                  <a:moveTo>
                    <a:pt x="0" y="0"/>
                  </a:moveTo>
                  <a:lnTo>
                    <a:pt x="2362522" y="0"/>
                  </a:lnTo>
                  <a:lnTo>
                    <a:pt x="2565722" y="423111"/>
                  </a:lnTo>
                  <a:lnTo>
                    <a:pt x="2362522" y="846221"/>
                  </a:lnTo>
                  <a:lnTo>
                    <a:pt x="0" y="846221"/>
                  </a:lnTo>
                  <a:lnTo>
                    <a:pt x="203200" y="423111"/>
                  </a:lnTo>
                  <a:lnTo>
                    <a:pt x="0" y="0"/>
                  </a:lnTo>
                  <a:close/>
                </a:path>
              </a:pathLst>
            </a:custGeom>
            <a:solidFill>
              <a:srgbClr val="9798DE"/>
            </a:solidFill>
          </p:spPr>
        </p:sp>
        <p:sp>
          <p:nvSpPr>
            <p:cNvPr id="13" name="TextBox 13"/>
            <p:cNvSpPr txBox="1"/>
            <p:nvPr/>
          </p:nvSpPr>
          <p:spPr>
            <a:xfrm>
              <a:off x="177800" y="-38100"/>
              <a:ext cx="2311722" cy="884321"/>
            </a:xfrm>
            <a:prstGeom prst="rect">
              <a:avLst/>
            </a:prstGeom>
          </p:spPr>
          <p:txBody>
            <a:bodyPr lIns="50800" tIns="50800" rIns="50800" bIns="50800" rtlCol="0" anchor="ctr"/>
            <a:lstStyle/>
            <a:p>
              <a:pPr algn="ctr">
                <a:lnSpc>
                  <a:spcPts val="2605"/>
                </a:lnSpc>
              </a:pPr>
              <a:endParaRPr/>
            </a:p>
          </p:txBody>
        </p:sp>
      </p:grpSp>
      <p:sp>
        <p:nvSpPr>
          <p:cNvPr id="14" name="TextBox 14"/>
          <p:cNvSpPr txBox="1"/>
          <p:nvPr/>
        </p:nvSpPr>
        <p:spPr>
          <a:xfrm>
            <a:off x="6339860" y="4671144"/>
            <a:ext cx="3324431" cy="569976"/>
          </a:xfrm>
          <a:prstGeom prst="rect">
            <a:avLst/>
          </a:prstGeom>
        </p:spPr>
        <p:txBody>
          <a:bodyPr lIns="0" tIns="0" rIns="0" bIns="0" rtlCol="0" anchor="t">
            <a:spAutoFit/>
          </a:bodyPr>
          <a:lstStyle/>
          <a:p>
            <a:pPr marL="0" lvl="0" indent="0" algn="ctr">
              <a:lnSpc>
                <a:spcPts val="4691"/>
              </a:lnSpc>
              <a:spcBef>
                <a:spcPct val="0"/>
              </a:spcBef>
            </a:pPr>
            <a:r>
              <a:rPr lang="en-US" sz="3399" b="1">
                <a:solidFill>
                  <a:srgbClr val="051D40"/>
                </a:solidFill>
                <a:latin typeface="DM Sans Bold"/>
                <a:ea typeface="DM Sans Bold"/>
                <a:cs typeface="DM Sans Bold"/>
                <a:sym typeface="DM Sans Bold"/>
              </a:rPr>
              <a:t>OCR Extraction</a:t>
            </a:r>
          </a:p>
        </p:txBody>
      </p:sp>
      <p:sp>
        <p:nvSpPr>
          <p:cNvPr id="15" name="TextBox 15"/>
          <p:cNvSpPr txBox="1"/>
          <p:nvPr/>
        </p:nvSpPr>
        <p:spPr>
          <a:xfrm>
            <a:off x="11388338" y="2985607"/>
            <a:ext cx="5870962" cy="893064"/>
          </a:xfrm>
          <a:prstGeom prst="rect">
            <a:avLst/>
          </a:prstGeom>
        </p:spPr>
        <p:txBody>
          <a:bodyPr lIns="0" tIns="0" rIns="0" bIns="0" rtlCol="0" anchor="t">
            <a:spAutoFit/>
          </a:bodyPr>
          <a:lstStyle/>
          <a:p>
            <a:pPr marL="0" lvl="0" indent="0" algn="l">
              <a:lnSpc>
                <a:spcPts val="3527"/>
              </a:lnSpc>
            </a:pPr>
            <a:r>
              <a:rPr lang="en-US" sz="2799">
                <a:solidFill>
                  <a:srgbClr val="FFFFFF"/>
                </a:solidFill>
                <a:latin typeface="DM Sans"/>
                <a:ea typeface="DM Sans"/>
                <a:cs typeface="DM Sans"/>
                <a:sym typeface="DM Sans"/>
              </a:rPr>
              <a:t>Users upload Aadhar images for processing </a:t>
            </a:r>
          </a:p>
        </p:txBody>
      </p:sp>
      <p:sp>
        <p:nvSpPr>
          <p:cNvPr id="16" name="TextBox 16"/>
          <p:cNvSpPr txBox="1"/>
          <p:nvPr/>
        </p:nvSpPr>
        <p:spPr>
          <a:xfrm>
            <a:off x="7604690" y="5932335"/>
            <a:ext cx="2985132" cy="1160526"/>
          </a:xfrm>
          <a:prstGeom prst="rect">
            <a:avLst/>
          </a:prstGeom>
        </p:spPr>
        <p:txBody>
          <a:bodyPr lIns="0" tIns="0" rIns="0" bIns="0" rtlCol="0" anchor="t">
            <a:spAutoFit/>
          </a:bodyPr>
          <a:lstStyle/>
          <a:p>
            <a:pPr marL="0" lvl="0" indent="0" algn="ctr">
              <a:lnSpc>
                <a:spcPts val="4691"/>
              </a:lnSpc>
              <a:spcBef>
                <a:spcPct val="0"/>
              </a:spcBef>
            </a:pPr>
            <a:r>
              <a:rPr lang="en-US" sz="3399" b="1">
                <a:solidFill>
                  <a:srgbClr val="051D40"/>
                </a:solidFill>
                <a:latin typeface="DM Sans Bold"/>
                <a:ea typeface="DM Sans Bold"/>
                <a:cs typeface="DM Sans Bold"/>
                <a:sym typeface="DM Sans Bold"/>
              </a:rPr>
              <a:t>Data Matching</a:t>
            </a:r>
          </a:p>
        </p:txBody>
      </p:sp>
      <p:sp>
        <p:nvSpPr>
          <p:cNvPr id="17" name="TextBox 17"/>
          <p:cNvSpPr txBox="1"/>
          <p:nvPr/>
        </p:nvSpPr>
        <p:spPr>
          <a:xfrm>
            <a:off x="0" y="4224790"/>
            <a:ext cx="5856525" cy="1340739"/>
          </a:xfrm>
          <a:prstGeom prst="rect">
            <a:avLst/>
          </a:prstGeom>
        </p:spPr>
        <p:txBody>
          <a:bodyPr lIns="0" tIns="0" rIns="0" bIns="0" rtlCol="0" anchor="t">
            <a:spAutoFit/>
          </a:bodyPr>
          <a:lstStyle/>
          <a:p>
            <a:pPr marL="0" lvl="0" indent="0" algn="r">
              <a:lnSpc>
                <a:spcPts val="3527"/>
              </a:lnSpc>
            </a:pPr>
            <a:r>
              <a:rPr lang="en-US" sz="2799">
                <a:solidFill>
                  <a:srgbClr val="FFFFFF"/>
                </a:solidFill>
                <a:latin typeface="DM Sans"/>
                <a:ea typeface="DM Sans"/>
                <a:cs typeface="DM Sans"/>
                <a:sym typeface="DM Sans"/>
              </a:rPr>
              <a:t>OCR technology extracts key details (Name, UID, DOB, Address) from uploaded Aadhaar images </a:t>
            </a:r>
          </a:p>
        </p:txBody>
      </p:sp>
      <p:sp>
        <p:nvSpPr>
          <p:cNvPr id="18" name="TextBox 18"/>
          <p:cNvSpPr txBox="1"/>
          <p:nvPr/>
        </p:nvSpPr>
        <p:spPr>
          <a:xfrm>
            <a:off x="11381454" y="5835813"/>
            <a:ext cx="4884918" cy="1340739"/>
          </a:xfrm>
          <a:prstGeom prst="rect">
            <a:avLst/>
          </a:prstGeom>
        </p:spPr>
        <p:txBody>
          <a:bodyPr lIns="0" tIns="0" rIns="0" bIns="0" rtlCol="0" anchor="t">
            <a:spAutoFit/>
          </a:bodyPr>
          <a:lstStyle/>
          <a:p>
            <a:pPr marL="0" lvl="0" indent="0" algn="l">
              <a:lnSpc>
                <a:spcPts val="3527"/>
              </a:lnSpc>
            </a:pPr>
            <a:r>
              <a:rPr lang="en-US" sz="2799">
                <a:solidFill>
                  <a:srgbClr val="FFFFFF"/>
                </a:solidFill>
                <a:latin typeface="DM Sans"/>
                <a:ea typeface="DM Sans"/>
                <a:cs typeface="DM Sans"/>
                <a:sym typeface="DM Sans"/>
              </a:rPr>
              <a:t>Extracted details are compared with metadata from the Excel database</a:t>
            </a:r>
          </a:p>
        </p:txBody>
      </p:sp>
      <p:sp>
        <p:nvSpPr>
          <p:cNvPr id="19" name="Freeform 19"/>
          <p:cNvSpPr/>
          <p:nvPr/>
        </p:nvSpPr>
        <p:spPr>
          <a:xfrm>
            <a:off x="-2519628" y="7227483"/>
            <a:ext cx="7086596" cy="7086596"/>
          </a:xfrm>
          <a:custGeom>
            <a:avLst/>
            <a:gdLst/>
            <a:ahLst/>
            <a:cxnLst/>
            <a:rect l="l" t="t" r="r" b="b"/>
            <a:pathLst>
              <a:path w="7086596" h="7086596">
                <a:moveTo>
                  <a:pt x="0" y="0"/>
                </a:moveTo>
                <a:lnTo>
                  <a:pt x="7086596" y="0"/>
                </a:lnTo>
                <a:lnTo>
                  <a:pt x="7086596" y="7086596"/>
                </a:lnTo>
                <a:lnTo>
                  <a:pt x="0" y="70865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Freeform 20"/>
          <p:cNvSpPr/>
          <p:nvPr/>
        </p:nvSpPr>
        <p:spPr>
          <a:xfrm rot="10436461">
            <a:off x="14152110" y="-4118246"/>
            <a:ext cx="6566182" cy="6566182"/>
          </a:xfrm>
          <a:custGeom>
            <a:avLst/>
            <a:gdLst/>
            <a:ahLst/>
            <a:cxnLst/>
            <a:rect l="l" t="t" r="r" b="b"/>
            <a:pathLst>
              <a:path w="6566182" h="6566182">
                <a:moveTo>
                  <a:pt x="0" y="0"/>
                </a:moveTo>
                <a:lnTo>
                  <a:pt x="6566182" y="0"/>
                </a:lnTo>
                <a:lnTo>
                  <a:pt x="6566182" y="6566183"/>
                </a:lnTo>
                <a:lnTo>
                  <a:pt x="0" y="65661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7219703" y="3155990"/>
            <a:ext cx="4161751" cy="569976"/>
          </a:xfrm>
          <a:prstGeom prst="rect">
            <a:avLst/>
          </a:prstGeom>
        </p:spPr>
        <p:txBody>
          <a:bodyPr lIns="0" tIns="0" rIns="0" bIns="0" rtlCol="0" anchor="t">
            <a:spAutoFit/>
          </a:bodyPr>
          <a:lstStyle/>
          <a:p>
            <a:pPr algn="ctr">
              <a:lnSpc>
                <a:spcPts val="4691"/>
              </a:lnSpc>
              <a:spcBef>
                <a:spcPct val="0"/>
              </a:spcBef>
            </a:pPr>
            <a:r>
              <a:rPr lang="en-US" sz="3399" b="1">
                <a:solidFill>
                  <a:srgbClr val="000000"/>
                </a:solidFill>
                <a:latin typeface="DM Sans Bold"/>
                <a:ea typeface="DM Sans Bold"/>
                <a:cs typeface="DM Sans Bold"/>
                <a:sym typeface="DM Sans Bold"/>
              </a:rPr>
              <a:t>Image Upload</a:t>
            </a:r>
          </a:p>
        </p:txBody>
      </p:sp>
      <p:sp>
        <p:nvSpPr>
          <p:cNvPr id="22" name="TextBox 22"/>
          <p:cNvSpPr txBox="1"/>
          <p:nvPr/>
        </p:nvSpPr>
        <p:spPr>
          <a:xfrm>
            <a:off x="6435683" y="7531681"/>
            <a:ext cx="3151835" cy="1160526"/>
          </a:xfrm>
          <a:prstGeom prst="rect">
            <a:avLst/>
          </a:prstGeom>
        </p:spPr>
        <p:txBody>
          <a:bodyPr lIns="0" tIns="0" rIns="0" bIns="0" rtlCol="0" anchor="t">
            <a:spAutoFit/>
          </a:bodyPr>
          <a:lstStyle/>
          <a:p>
            <a:pPr algn="ctr">
              <a:lnSpc>
                <a:spcPts val="4691"/>
              </a:lnSpc>
              <a:spcBef>
                <a:spcPct val="0"/>
              </a:spcBef>
            </a:pPr>
            <a:r>
              <a:rPr lang="en-US" sz="3399" b="1">
                <a:solidFill>
                  <a:srgbClr val="000000"/>
                </a:solidFill>
                <a:latin typeface="DM Sans Bold"/>
                <a:ea typeface="DM Sans Bold"/>
                <a:cs typeface="DM Sans Bold"/>
                <a:sym typeface="DM Sans Bold"/>
              </a:rPr>
              <a:t>Fraud Detection</a:t>
            </a:r>
          </a:p>
        </p:txBody>
      </p:sp>
      <p:sp>
        <p:nvSpPr>
          <p:cNvPr id="23" name="TextBox 23"/>
          <p:cNvSpPr txBox="1"/>
          <p:nvPr/>
        </p:nvSpPr>
        <p:spPr>
          <a:xfrm>
            <a:off x="1313073" y="7396235"/>
            <a:ext cx="4543452" cy="1440942"/>
          </a:xfrm>
          <a:prstGeom prst="rect">
            <a:avLst/>
          </a:prstGeom>
        </p:spPr>
        <p:txBody>
          <a:bodyPr lIns="0" tIns="0" rIns="0" bIns="0" rtlCol="0" anchor="t">
            <a:spAutoFit/>
          </a:bodyPr>
          <a:lstStyle/>
          <a:p>
            <a:pPr algn="r">
              <a:lnSpc>
                <a:spcPts val="3863"/>
              </a:lnSpc>
              <a:spcBef>
                <a:spcPct val="0"/>
              </a:spcBef>
            </a:pPr>
            <a:r>
              <a:rPr lang="en-US" sz="2799">
                <a:solidFill>
                  <a:srgbClr val="FFFFFF"/>
                </a:solidFill>
                <a:latin typeface="DM Sans"/>
                <a:ea typeface="DM Sans"/>
                <a:cs typeface="DM Sans"/>
                <a:sym typeface="DM Sans"/>
              </a:rPr>
              <a:t>Any mismatch or discrepancy is flagged for verification</a:t>
            </a:r>
          </a:p>
        </p:txBody>
      </p:sp>
      <p:sp>
        <p:nvSpPr>
          <p:cNvPr id="24" name="TextBox 24"/>
          <p:cNvSpPr txBox="1"/>
          <p:nvPr/>
        </p:nvSpPr>
        <p:spPr>
          <a:xfrm>
            <a:off x="3584799" y="690491"/>
            <a:ext cx="11272040" cy="1015365"/>
          </a:xfrm>
          <a:prstGeom prst="rect">
            <a:avLst/>
          </a:prstGeom>
        </p:spPr>
        <p:txBody>
          <a:bodyPr lIns="0" tIns="0" rIns="0" bIns="0" rtlCol="0" anchor="t">
            <a:spAutoFit/>
          </a:bodyPr>
          <a:lstStyle/>
          <a:p>
            <a:pPr algn="ctr">
              <a:lnSpc>
                <a:spcPts val="8280"/>
              </a:lnSpc>
              <a:spcBef>
                <a:spcPct val="0"/>
              </a:spcBef>
            </a:pPr>
            <a:r>
              <a:rPr lang="en-US" sz="6000" b="1">
                <a:solidFill>
                  <a:srgbClr val="FFFFFF"/>
                </a:solidFill>
                <a:latin typeface="DM Sans Bold"/>
                <a:ea typeface="DM Sans Bold"/>
                <a:cs typeface="DM Sans Bold"/>
                <a:sym typeface="DM Sans Bold"/>
              </a:rPr>
              <a:t>PROCESSING AADHAAR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239359" y="3822518"/>
            <a:ext cx="1742049" cy="575126"/>
            <a:chOff x="0" y="0"/>
            <a:chExt cx="1538724" cy="508000"/>
          </a:xfrm>
        </p:grpSpPr>
        <p:sp>
          <p:nvSpPr>
            <p:cNvPr id="3" name="Freeform 3"/>
            <p:cNvSpPr/>
            <p:nvPr/>
          </p:nvSpPr>
          <p:spPr>
            <a:xfrm>
              <a:off x="0" y="49530"/>
              <a:ext cx="1538724" cy="408940"/>
            </a:xfrm>
            <a:custGeom>
              <a:avLst/>
              <a:gdLst/>
              <a:ahLst/>
              <a:cxnLst/>
              <a:rect l="l" t="t" r="r" b="b"/>
              <a:pathLst>
                <a:path w="1538724" h="408940">
                  <a:moveTo>
                    <a:pt x="1332984" y="0"/>
                  </a:moveTo>
                  <a:cubicBezTo>
                    <a:pt x="1232654" y="0"/>
                    <a:pt x="1150104" y="72390"/>
                    <a:pt x="1131054" y="166370"/>
                  </a:cubicBezTo>
                  <a:lnTo>
                    <a:pt x="0" y="166370"/>
                  </a:lnTo>
                  <a:lnTo>
                    <a:pt x="0" y="242570"/>
                  </a:lnTo>
                  <a:lnTo>
                    <a:pt x="1132324" y="242570"/>
                  </a:lnTo>
                  <a:cubicBezTo>
                    <a:pt x="1150104" y="337820"/>
                    <a:pt x="1233924" y="408940"/>
                    <a:pt x="1334254" y="408940"/>
                  </a:cubicBezTo>
                  <a:cubicBezTo>
                    <a:pt x="1447284" y="408940"/>
                    <a:pt x="1538724" y="317500"/>
                    <a:pt x="1538724" y="204470"/>
                  </a:cubicBezTo>
                  <a:cubicBezTo>
                    <a:pt x="1538724" y="91440"/>
                    <a:pt x="1447284" y="0"/>
                    <a:pt x="1332984" y="0"/>
                  </a:cubicBezTo>
                  <a:close/>
                </a:path>
              </a:pathLst>
            </a:custGeom>
            <a:solidFill>
              <a:srgbClr val="1E3653"/>
            </a:solidFill>
          </p:spPr>
        </p:sp>
      </p:grpSp>
      <p:grpSp>
        <p:nvGrpSpPr>
          <p:cNvPr id="4" name="Group 4"/>
          <p:cNvGrpSpPr/>
          <p:nvPr/>
        </p:nvGrpSpPr>
        <p:grpSpPr>
          <a:xfrm rot="5400000">
            <a:off x="1588214" y="3822518"/>
            <a:ext cx="1742049" cy="575126"/>
            <a:chOff x="0" y="0"/>
            <a:chExt cx="1538724" cy="508000"/>
          </a:xfrm>
        </p:grpSpPr>
        <p:sp>
          <p:nvSpPr>
            <p:cNvPr id="5" name="Freeform 5"/>
            <p:cNvSpPr/>
            <p:nvPr/>
          </p:nvSpPr>
          <p:spPr>
            <a:xfrm>
              <a:off x="0" y="49530"/>
              <a:ext cx="1538724" cy="408940"/>
            </a:xfrm>
            <a:custGeom>
              <a:avLst/>
              <a:gdLst/>
              <a:ahLst/>
              <a:cxnLst/>
              <a:rect l="l" t="t" r="r" b="b"/>
              <a:pathLst>
                <a:path w="1538724" h="408940">
                  <a:moveTo>
                    <a:pt x="1332984" y="0"/>
                  </a:moveTo>
                  <a:cubicBezTo>
                    <a:pt x="1232654" y="0"/>
                    <a:pt x="1150104" y="72390"/>
                    <a:pt x="1131054" y="166370"/>
                  </a:cubicBezTo>
                  <a:lnTo>
                    <a:pt x="0" y="166370"/>
                  </a:lnTo>
                  <a:lnTo>
                    <a:pt x="0" y="242570"/>
                  </a:lnTo>
                  <a:lnTo>
                    <a:pt x="1132324" y="242570"/>
                  </a:lnTo>
                  <a:cubicBezTo>
                    <a:pt x="1150104" y="337820"/>
                    <a:pt x="1233924" y="408940"/>
                    <a:pt x="1334254" y="408940"/>
                  </a:cubicBezTo>
                  <a:cubicBezTo>
                    <a:pt x="1447284" y="408940"/>
                    <a:pt x="1538724" y="317500"/>
                    <a:pt x="1538724" y="204470"/>
                  </a:cubicBezTo>
                  <a:cubicBezTo>
                    <a:pt x="1538724" y="91440"/>
                    <a:pt x="1447284" y="0"/>
                    <a:pt x="1332984" y="0"/>
                  </a:cubicBezTo>
                  <a:close/>
                </a:path>
              </a:pathLst>
            </a:custGeom>
            <a:solidFill>
              <a:srgbClr val="1E3653"/>
            </a:solidFill>
          </p:spPr>
        </p:sp>
      </p:grpSp>
      <p:grpSp>
        <p:nvGrpSpPr>
          <p:cNvPr id="6" name="Group 6"/>
          <p:cNvGrpSpPr/>
          <p:nvPr/>
        </p:nvGrpSpPr>
        <p:grpSpPr>
          <a:xfrm rot="5400000">
            <a:off x="10852114" y="3822543"/>
            <a:ext cx="1742049" cy="575126"/>
            <a:chOff x="0" y="0"/>
            <a:chExt cx="1538724" cy="508000"/>
          </a:xfrm>
        </p:grpSpPr>
        <p:sp>
          <p:nvSpPr>
            <p:cNvPr id="7" name="Freeform 7"/>
            <p:cNvSpPr/>
            <p:nvPr/>
          </p:nvSpPr>
          <p:spPr>
            <a:xfrm>
              <a:off x="0" y="49530"/>
              <a:ext cx="1538724" cy="408940"/>
            </a:xfrm>
            <a:custGeom>
              <a:avLst/>
              <a:gdLst/>
              <a:ahLst/>
              <a:cxnLst/>
              <a:rect l="l" t="t" r="r" b="b"/>
              <a:pathLst>
                <a:path w="1538724" h="408940">
                  <a:moveTo>
                    <a:pt x="1332984" y="0"/>
                  </a:moveTo>
                  <a:cubicBezTo>
                    <a:pt x="1232654" y="0"/>
                    <a:pt x="1150104" y="72390"/>
                    <a:pt x="1131054" y="166370"/>
                  </a:cubicBezTo>
                  <a:lnTo>
                    <a:pt x="0" y="166370"/>
                  </a:lnTo>
                  <a:lnTo>
                    <a:pt x="0" y="242570"/>
                  </a:lnTo>
                  <a:lnTo>
                    <a:pt x="1132324" y="242570"/>
                  </a:lnTo>
                  <a:cubicBezTo>
                    <a:pt x="1150104" y="337820"/>
                    <a:pt x="1233924" y="408940"/>
                    <a:pt x="1334254" y="408940"/>
                  </a:cubicBezTo>
                  <a:cubicBezTo>
                    <a:pt x="1447284" y="408940"/>
                    <a:pt x="1538724" y="317500"/>
                    <a:pt x="1538724" y="204470"/>
                  </a:cubicBezTo>
                  <a:cubicBezTo>
                    <a:pt x="1538724" y="91440"/>
                    <a:pt x="1447284" y="0"/>
                    <a:pt x="1332984" y="0"/>
                  </a:cubicBezTo>
                  <a:close/>
                </a:path>
              </a:pathLst>
            </a:custGeom>
            <a:solidFill>
              <a:srgbClr val="1E3653"/>
            </a:solidFill>
          </p:spPr>
        </p:sp>
      </p:grpSp>
      <p:sp>
        <p:nvSpPr>
          <p:cNvPr id="8" name="AutoShape 8"/>
          <p:cNvSpPr/>
          <p:nvPr/>
        </p:nvSpPr>
        <p:spPr>
          <a:xfrm>
            <a:off x="-73482" y="0"/>
            <a:ext cx="18434963" cy="3239082"/>
          </a:xfrm>
          <a:prstGeom prst="rect">
            <a:avLst/>
          </a:prstGeom>
          <a:solidFill>
            <a:srgbClr val="5F5FD3"/>
          </a:solidFill>
        </p:spPr>
      </p:sp>
      <p:grpSp>
        <p:nvGrpSpPr>
          <p:cNvPr id="9" name="Group 9"/>
          <p:cNvGrpSpPr/>
          <p:nvPr/>
        </p:nvGrpSpPr>
        <p:grpSpPr>
          <a:xfrm rot="5400000">
            <a:off x="14892528" y="3822518"/>
            <a:ext cx="1742049" cy="575126"/>
            <a:chOff x="0" y="0"/>
            <a:chExt cx="1538724" cy="508000"/>
          </a:xfrm>
        </p:grpSpPr>
        <p:sp>
          <p:nvSpPr>
            <p:cNvPr id="10" name="Freeform 10"/>
            <p:cNvSpPr/>
            <p:nvPr/>
          </p:nvSpPr>
          <p:spPr>
            <a:xfrm>
              <a:off x="0" y="49530"/>
              <a:ext cx="1538724" cy="408940"/>
            </a:xfrm>
            <a:custGeom>
              <a:avLst/>
              <a:gdLst/>
              <a:ahLst/>
              <a:cxnLst/>
              <a:rect l="l" t="t" r="r" b="b"/>
              <a:pathLst>
                <a:path w="1538724" h="408940">
                  <a:moveTo>
                    <a:pt x="1332984" y="0"/>
                  </a:moveTo>
                  <a:cubicBezTo>
                    <a:pt x="1232654" y="0"/>
                    <a:pt x="1150104" y="72390"/>
                    <a:pt x="1131054" y="166370"/>
                  </a:cubicBezTo>
                  <a:lnTo>
                    <a:pt x="0" y="166370"/>
                  </a:lnTo>
                  <a:lnTo>
                    <a:pt x="0" y="242570"/>
                  </a:lnTo>
                  <a:lnTo>
                    <a:pt x="1132324" y="242570"/>
                  </a:lnTo>
                  <a:cubicBezTo>
                    <a:pt x="1150104" y="337820"/>
                    <a:pt x="1233924" y="408940"/>
                    <a:pt x="1334254" y="408940"/>
                  </a:cubicBezTo>
                  <a:cubicBezTo>
                    <a:pt x="1447284" y="408940"/>
                    <a:pt x="1538724" y="317500"/>
                    <a:pt x="1538724" y="204470"/>
                  </a:cubicBezTo>
                  <a:cubicBezTo>
                    <a:pt x="1538724" y="91440"/>
                    <a:pt x="1447284" y="0"/>
                    <a:pt x="1332984" y="0"/>
                  </a:cubicBezTo>
                  <a:close/>
                </a:path>
              </a:pathLst>
            </a:custGeom>
            <a:solidFill>
              <a:srgbClr val="1E3653"/>
            </a:solidFill>
          </p:spPr>
        </p:sp>
      </p:grpSp>
      <p:sp>
        <p:nvSpPr>
          <p:cNvPr id="11" name="Freeform 11"/>
          <p:cNvSpPr/>
          <p:nvPr/>
        </p:nvSpPr>
        <p:spPr>
          <a:xfrm>
            <a:off x="6345287" y="7799153"/>
            <a:ext cx="1530191" cy="1539815"/>
          </a:xfrm>
          <a:custGeom>
            <a:avLst/>
            <a:gdLst/>
            <a:ahLst/>
            <a:cxnLst/>
            <a:rect l="l" t="t" r="r" b="b"/>
            <a:pathLst>
              <a:path w="1530191" h="1539815">
                <a:moveTo>
                  <a:pt x="0" y="0"/>
                </a:moveTo>
                <a:lnTo>
                  <a:pt x="1530192" y="0"/>
                </a:lnTo>
                <a:lnTo>
                  <a:pt x="1530192" y="1539815"/>
                </a:lnTo>
                <a:lnTo>
                  <a:pt x="0" y="15398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1034216" y="7818634"/>
            <a:ext cx="1404408" cy="1520333"/>
          </a:xfrm>
          <a:custGeom>
            <a:avLst/>
            <a:gdLst/>
            <a:ahLst/>
            <a:cxnLst/>
            <a:rect l="l" t="t" r="r" b="b"/>
            <a:pathLst>
              <a:path w="1404408" h="1520333">
                <a:moveTo>
                  <a:pt x="0" y="0"/>
                </a:moveTo>
                <a:lnTo>
                  <a:pt x="1404408" y="0"/>
                </a:lnTo>
                <a:lnTo>
                  <a:pt x="1404408" y="1520334"/>
                </a:lnTo>
                <a:lnTo>
                  <a:pt x="0" y="15203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15109367" y="7770230"/>
            <a:ext cx="1482490" cy="1488070"/>
          </a:xfrm>
          <a:custGeom>
            <a:avLst/>
            <a:gdLst/>
            <a:ahLst/>
            <a:cxnLst/>
            <a:rect l="l" t="t" r="r" b="b"/>
            <a:pathLst>
              <a:path w="1482490" h="1488070">
                <a:moveTo>
                  <a:pt x="0" y="0"/>
                </a:moveTo>
                <a:lnTo>
                  <a:pt x="1482489" y="0"/>
                </a:lnTo>
                <a:lnTo>
                  <a:pt x="1482489" y="1488070"/>
                </a:lnTo>
                <a:lnTo>
                  <a:pt x="0" y="14880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1810995" y="7799153"/>
            <a:ext cx="1296487" cy="1471191"/>
          </a:xfrm>
          <a:custGeom>
            <a:avLst/>
            <a:gdLst/>
            <a:ahLst/>
            <a:cxnLst/>
            <a:rect l="l" t="t" r="r" b="b"/>
            <a:pathLst>
              <a:path w="1296487" h="1471191">
                <a:moveTo>
                  <a:pt x="0" y="0"/>
                </a:moveTo>
                <a:lnTo>
                  <a:pt x="1296487" y="0"/>
                </a:lnTo>
                <a:lnTo>
                  <a:pt x="1296487" y="1471190"/>
                </a:lnTo>
                <a:lnTo>
                  <a:pt x="0" y="147119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TextBox 15"/>
          <p:cNvSpPr txBox="1"/>
          <p:nvPr/>
        </p:nvSpPr>
        <p:spPr>
          <a:xfrm>
            <a:off x="-73482" y="1098841"/>
            <a:ext cx="16113734" cy="936625"/>
          </a:xfrm>
          <a:prstGeom prst="rect">
            <a:avLst/>
          </a:prstGeom>
        </p:spPr>
        <p:txBody>
          <a:bodyPr lIns="0" tIns="0" rIns="0" bIns="0" rtlCol="0" anchor="t">
            <a:spAutoFit/>
          </a:bodyPr>
          <a:lstStyle/>
          <a:p>
            <a:pPr algn="r">
              <a:lnSpc>
                <a:spcPts val="7699"/>
              </a:lnSpc>
            </a:pPr>
            <a:r>
              <a:rPr lang="en-US" sz="5499" b="1" spc="604">
                <a:solidFill>
                  <a:srgbClr val="FFFFFF"/>
                </a:solidFill>
                <a:latin typeface="Montserrat Bold"/>
                <a:ea typeface="Montserrat Bold"/>
                <a:cs typeface="Montserrat Bold"/>
                <a:sym typeface="Montserrat Bold"/>
              </a:rPr>
              <a:t>FRAUD DETECTION USING YOLO</a:t>
            </a:r>
          </a:p>
        </p:txBody>
      </p:sp>
      <p:sp>
        <p:nvSpPr>
          <p:cNvPr id="16" name="TextBox 16"/>
          <p:cNvSpPr txBox="1"/>
          <p:nvPr/>
        </p:nvSpPr>
        <p:spPr>
          <a:xfrm>
            <a:off x="5373816" y="5105400"/>
            <a:ext cx="3473134" cy="850900"/>
          </a:xfrm>
          <a:prstGeom prst="rect">
            <a:avLst/>
          </a:prstGeom>
        </p:spPr>
        <p:txBody>
          <a:bodyPr lIns="0" tIns="0" rIns="0" bIns="0" rtlCol="0" anchor="t">
            <a:spAutoFit/>
          </a:bodyPr>
          <a:lstStyle/>
          <a:p>
            <a:pPr algn="ctr">
              <a:lnSpc>
                <a:spcPts val="3499"/>
              </a:lnSpc>
            </a:pPr>
            <a:r>
              <a:rPr lang="en-US" sz="2499" b="1" spc="224">
                <a:solidFill>
                  <a:srgbClr val="1E3653"/>
                </a:solidFill>
                <a:latin typeface="Montserrat Bold"/>
                <a:ea typeface="Montserrat Bold"/>
                <a:cs typeface="Montserrat Bold"/>
                <a:sym typeface="Montserrat Bold"/>
              </a:rPr>
              <a:t>HIGHLIGHT FORGED REGIONS</a:t>
            </a:r>
          </a:p>
        </p:txBody>
      </p:sp>
      <p:sp>
        <p:nvSpPr>
          <p:cNvPr id="17" name="TextBox 17"/>
          <p:cNvSpPr txBox="1"/>
          <p:nvPr/>
        </p:nvSpPr>
        <p:spPr>
          <a:xfrm>
            <a:off x="357175" y="5095875"/>
            <a:ext cx="4077730" cy="967105"/>
          </a:xfrm>
          <a:prstGeom prst="rect">
            <a:avLst/>
          </a:prstGeom>
        </p:spPr>
        <p:txBody>
          <a:bodyPr lIns="0" tIns="0" rIns="0" bIns="0" rtlCol="0" anchor="t">
            <a:spAutoFit/>
          </a:bodyPr>
          <a:lstStyle/>
          <a:p>
            <a:pPr algn="ctr">
              <a:lnSpc>
                <a:spcPts val="3919"/>
              </a:lnSpc>
            </a:pPr>
            <a:r>
              <a:rPr lang="en-US" sz="2799" b="1" spc="251">
                <a:solidFill>
                  <a:srgbClr val="1E3653"/>
                </a:solidFill>
                <a:latin typeface="Montserrat Bold"/>
                <a:ea typeface="Montserrat Bold"/>
                <a:cs typeface="Montserrat Bold"/>
                <a:sym typeface="Montserrat Bold"/>
              </a:rPr>
              <a:t>DETECT TAMPERED AREAS</a:t>
            </a:r>
          </a:p>
        </p:txBody>
      </p:sp>
      <p:grpSp>
        <p:nvGrpSpPr>
          <p:cNvPr id="18" name="Group 18"/>
          <p:cNvGrpSpPr/>
          <p:nvPr/>
        </p:nvGrpSpPr>
        <p:grpSpPr>
          <a:xfrm>
            <a:off x="10189481" y="5162982"/>
            <a:ext cx="3206961" cy="1455503"/>
            <a:chOff x="0" y="0"/>
            <a:chExt cx="4275947" cy="1940670"/>
          </a:xfrm>
        </p:grpSpPr>
        <p:sp>
          <p:nvSpPr>
            <p:cNvPr id="19" name="TextBox 19"/>
            <p:cNvSpPr txBox="1"/>
            <p:nvPr/>
          </p:nvSpPr>
          <p:spPr>
            <a:xfrm>
              <a:off x="0" y="-38100"/>
              <a:ext cx="4275947" cy="1121833"/>
            </a:xfrm>
            <a:prstGeom prst="rect">
              <a:avLst/>
            </a:prstGeom>
          </p:spPr>
          <p:txBody>
            <a:bodyPr lIns="0" tIns="0" rIns="0" bIns="0" rtlCol="0" anchor="t">
              <a:spAutoFit/>
            </a:bodyPr>
            <a:lstStyle/>
            <a:p>
              <a:pPr algn="ctr">
                <a:lnSpc>
                  <a:spcPts val="3499"/>
                </a:lnSpc>
              </a:pPr>
              <a:r>
                <a:rPr lang="en-US" sz="2499" b="1" spc="224">
                  <a:solidFill>
                    <a:srgbClr val="1E3653"/>
                  </a:solidFill>
                  <a:latin typeface="Montserrat Bold"/>
                  <a:ea typeface="Montserrat Bold"/>
                  <a:cs typeface="Montserrat Bold"/>
                  <a:sym typeface="Montserrat Bold"/>
                </a:rPr>
                <a:t>IDENTIFY FRAUD</a:t>
              </a:r>
            </a:p>
          </p:txBody>
        </p:sp>
        <p:sp>
          <p:nvSpPr>
            <p:cNvPr id="20" name="TextBox 20"/>
            <p:cNvSpPr txBox="1"/>
            <p:nvPr/>
          </p:nvSpPr>
          <p:spPr>
            <a:xfrm>
              <a:off x="0" y="1415586"/>
              <a:ext cx="4275947" cy="525084"/>
            </a:xfrm>
            <a:prstGeom prst="rect">
              <a:avLst/>
            </a:prstGeom>
          </p:spPr>
          <p:txBody>
            <a:bodyPr lIns="0" tIns="0" rIns="0" bIns="0" rtlCol="0" anchor="t">
              <a:spAutoFit/>
            </a:bodyPr>
            <a:lstStyle/>
            <a:p>
              <a:pPr algn="ctr">
                <a:lnSpc>
                  <a:spcPts val="3383"/>
                </a:lnSpc>
              </a:pPr>
              <a:endParaRPr/>
            </a:p>
          </p:txBody>
        </p:sp>
      </p:grpSp>
      <p:grpSp>
        <p:nvGrpSpPr>
          <p:cNvPr id="21" name="Group 21"/>
          <p:cNvGrpSpPr/>
          <p:nvPr/>
        </p:nvGrpSpPr>
        <p:grpSpPr>
          <a:xfrm>
            <a:off x="14441923" y="5182464"/>
            <a:ext cx="2817377" cy="1416539"/>
            <a:chOff x="0" y="0"/>
            <a:chExt cx="3756503" cy="1888718"/>
          </a:xfrm>
        </p:grpSpPr>
        <p:sp>
          <p:nvSpPr>
            <p:cNvPr id="22" name="TextBox 22"/>
            <p:cNvSpPr txBox="1"/>
            <p:nvPr/>
          </p:nvSpPr>
          <p:spPr>
            <a:xfrm>
              <a:off x="0" y="-38100"/>
              <a:ext cx="3756503" cy="1121833"/>
            </a:xfrm>
            <a:prstGeom prst="rect">
              <a:avLst/>
            </a:prstGeom>
          </p:spPr>
          <p:txBody>
            <a:bodyPr lIns="0" tIns="0" rIns="0" bIns="0" rtlCol="0" anchor="t">
              <a:spAutoFit/>
            </a:bodyPr>
            <a:lstStyle/>
            <a:p>
              <a:pPr algn="ctr">
                <a:lnSpc>
                  <a:spcPts val="3499"/>
                </a:lnSpc>
              </a:pPr>
              <a:r>
                <a:rPr lang="en-US" sz="2499" b="1" spc="224">
                  <a:solidFill>
                    <a:srgbClr val="1E3653"/>
                  </a:solidFill>
                  <a:latin typeface="Montserrat Bold"/>
                  <a:ea typeface="Montserrat Bold"/>
                  <a:cs typeface="Montserrat Bold"/>
                  <a:sym typeface="Montserrat Bold"/>
                </a:rPr>
                <a:t>ENHANCE SECURITY</a:t>
              </a:r>
            </a:p>
          </p:txBody>
        </p:sp>
        <p:sp>
          <p:nvSpPr>
            <p:cNvPr id="23" name="TextBox 23"/>
            <p:cNvSpPr txBox="1"/>
            <p:nvPr/>
          </p:nvSpPr>
          <p:spPr>
            <a:xfrm>
              <a:off x="0" y="1400950"/>
              <a:ext cx="3756503" cy="487768"/>
            </a:xfrm>
            <a:prstGeom prst="rect">
              <a:avLst/>
            </a:prstGeom>
          </p:spPr>
          <p:txBody>
            <a:bodyPr lIns="0" tIns="0" rIns="0" bIns="0" rtlCol="0" anchor="t">
              <a:spAutoFit/>
            </a:bodyPr>
            <a:lstStyle/>
            <a:p>
              <a:pPr algn="ctr">
                <a:lnSpc>
                  <a:spcPts val="3178"/>
                </a:lnSpc>
              </a:pPr>
              <a:endParaRPr/>
            </a:p>
          </p:txBody>
        </p:sp>
      </p:grpSp>
      <p:sp>
        <p:nvSpPr>
          <p:cNvPr id="24" name="TextBox 24"/>
          <p:cNvSpPr txBox="1"/>
          <p:nvPr/>
        </p:nvSpPr>
        <p:spPr>
          <a:xfrm>
            <a:off x="293977" y="6282055"/>
            <a:ext cx="4204126" cy="1185672"/>
          </a:xfrm>
          <a:prstGeom prst="rect">
            <a:avLst/>
          </a:prstGeom>
        </p:spPr>
        <p:txBody>
          <a:bodyPr lIns="0" tIns="0" rIns="0" bIns="0" rtlCol="0" anchor="t">
            <a:spAutoFit/>
          </a:bodyPr>
          <a:lstStyle/>
          <a:p>
            <a:pPr algn="ctr">
              <a:lnSpc>
                <a:spcPts val="3174"/>
              </a:lnSpc>
              <a:spcBef>
                <a:spcPct val="0"/>
              </a:spcBef>
            </a:pPr>
            <a:r>
              <a:rPr lang="en-US" sz="2300">
                <a:solidFill>
                  <a:srgbClr val="5F5FD3"/>
                </a:solidFill>
                <a:latin typeface="DM Sans"/>
                <a:ea typeface="DM Sans"/>
                <a:cs typeface="DM Sans"/>
                <a:sym typeface="DM Sans"/>
              </a:rPr>
              <a:t>YOLO model detects tampered areas on Aadhaar images.</a:t>
            </a:r>
          </a:p>
        </p:txBody>
      </p:sp>
      <p:sp>
        <p:nvSpPr>
          <p:cNvPr id="25" name="TextBox 25"/>
          <p:cNvSpPr txBox="1"/>
          <p:nvPr/>
        </p:nvSpPr>
        <p:spPr>
          <a:xfrm>
            <a:off x="5076766" y="6282055"/>
            <a:ext cx="4067234" cy="1185672"/>
          </a:xfrm>
          <a:prstGeom prst="rect">
            <a:avLst/>
          </a:prstGeom>
        </p:spPr>
        <p:txBody>
          <a:bodyPr lIns="0" tIns="0" rIns="0" bIns="0" rtlCol="0" anchor="t">
            <a:spAutoFit/>
          </a:bodyPr>
          <a:lstStyle/>
          <a:p>
            <a:pPr algn="ctr">
              <a:lnSpc>
                <a:spcPts val="3174"/>
              </a:lnSpc>
              <a:spcBef>
                <a:spcPct val="0"/>
              </a:spcBef>
            </a:pPr>
            <a:r>
              <a:rPr lang="en-US" sz="2300">
                <a:solidFill>
                  <a:srgbClr val="5F5FD3"/>
                </a:solidFill>
                <a:latin typeface="DM Sans"/>
                <a:ea typeface="DM Sans"/>
                <a:cs typeface="DM Sans"/>
                <a:sym typeface="DM Sans"/>
              </a:rPr>
              <a:t> YOLO model highlights forged or altered regions for detailed analysis.</a:t>
            </a:r>
          </a:p>
        </p:txBody>
      </p:sp>
      <p:sp>
        <p:nvSpPr>
          <p:cNvPr id="26" name="TextBox 26"/>
          <p:cNvSpPr txBox="1"/>
          <p:nvPr/>
        </p:nvSpPr>
        <p:spPr>
          <a:xfrm>
            <a:off x="9892881" y="6282055"/>
            <a:ext cx="3800162" cy="1585722"/>
          </a:xfrm>
          <a:prstGeom prst="rect">
            <a:avLst/>
          </a:prstGeom>
        </p:spPr>
        <p:txBody>
          <a:bodyPr lIns="0" tIns="0" rIns="0" bIns="0" rtlCol="0" anchor="t">
            <a:spAutoFit/>
          </a:bodyPr>
          <a:lstStyle/>
          <a:p>
            <a:pPr algn="ctr">
              <a:lnSpc>
                <a:spcPts val="3174"/>
              </a:lnSpc>
            </a:pPr>
            <a:r>
              <a:rPr lang="en-US" sz="2300">
                <a:solidFill>
                  <a:srgbClr val="5F5FD3"/>
                </a:solidFill>
                <a:latin typeface="DM Sans"/>
                <a:ea typeface="DM Sans"/>
                <a:cs typeface="DM Sans"/>
                <a:sym typeface="DM Sans"/>
              </a:rPr>
              <a:t>YOLO model identifies fraud by analyzing and manipulation patterns.</a:t>
            </a:r>
          </a:p>
          <a:p>
            <a:pPr algn="ctr">
              <a:lnSpc>
                <a:spcPts val="3174"/>
              </a:lnSpc>
              <a:spcBef>
                <a:spcPct val="0"/>
              </a:spcBef>
            </a:pPr>
            <a:endParaRPr lang="en-US" sz="2300">
              <a:solidFill>
                <a:srgbClr val="5F5FD3"/>
              </a:solidFill>
              <a:latin typeface="DM Sans"/>
              <a:ea typeface="DM Sans"/>
              <a:cs typeface="DM Sans"/>
              <a:sym typeface="DM Sans"/>
            </a:endParaRPr>
          </a:p>
        </p:txBody>
      </p:sp>
      <p:sp>
        <p:nvSpPr>
          <p:cNvPr id="27" name="TextBox 27"/>
          <p:cNvSpPr txBox="1"/>
          <p:nvPr/>
        </p:nvSpPr>
        <p:spPr>
          <a:xfrm>
            <a:off x="13789416" y="6282055"/>
            <a:ext cx="3948273" cy="1585722"/>
          </a:xfrm>
          <a:prstGeom prst="rect">
            <a:avLst/>
          </a:prstGeom>
        </p:spPr>
        <p:txBody>
          <a:bodyPr lIns="0" tIns="0" rIns="0" bIns="0" rtlCol="0" anchor="t">
            <a:spAutoFit/>
          </a:bodyPr>
          <a:lstStyle/>
          <a:p>
            <a:pPr algn="ctr">
              <a:lnSpc>
                <a:spcPts val="3174"/>
              </a:lnSpc>
            </a:pPr>
            <a:r>
              <a:rPr lang="en-US" sz="2300">
                <a:solidFill>
                  <a:srgbClr val="5F5FD3"/>
                </a:solidFill>
                <a:latin typeface="DM Sans"/>
                <a:ea typeface="DM Sans"/>
                <a:cs typeface="DM Sans"/>
                <a:sym typeface="DM Sans"/>
              </a:rPr>
              <a:t>YOLO model enhances security and accuracy in Aadhaar verification.</a:t>
            </a:r>
          </a:p>
          <a:p>
            <a:pPr algn="ctr">
              <a:lnSpc>
                <a:spcPts val="3174"/>
              </a:lnSpc>
              <a:spcBef>
                <a:spcPct val="0"/>
              </a:spcBef>
            </a:pPr>
            <a:endParaRPr lang="en-US" sz="2300">
              <a:solidFill>
                <a:srgbClr val="5F5FD3"/>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45CDD"/>
        </a:solidFill>
        <a:effectLst/>
      </p:bgPr>
    </p:bg>
    <p:spTree>
      <p:nvGrpSpPr>
        <p:cNvPr id="1" name=""/>
        <p:cNvGrpSpPr/>
        <p:nvPr/>
      </p:nvGrpSpPr>
      <p:grpSpPr>
        <a:xfrm>
          <a:off x="0" y="0"/>
          <a:ext cx="0" cy="0"/>
          <a:chOff x="0" y="0"/>
          <a:chExt cx="0" cy="0"/>
        </a:xfrm>
      </p:grpSpPr>
      <p:grpSp>
        <p:nvGrpSpPr>
          <p:cNvPr id="2" name="Group 2"/>
          <p:cNvGrpSpPr/>
          <p:nvPr/>
        </p:nvGrpSpPr>
        <p:grpSpPr>
          <a:xfrm>
            <a:off x="620159" y="5016517"/>
            <a:ext cx="5386161" cy="4241783"/>
            <a:chOff x="0" y="0"/>
            <a:chExt cx="1418577" cy="1117177"/>
          </a:xfrm>
        </p:grpSpPr>
        <p:sp>
          <p:nvSpPr>
            <p:cNvPr id="3" name="Freeform 3"/>
            <p:cNvSpPr/>
            <p:nvPr/>
          </p:nvSpPr>
          <p:spPr>
            <a:xfrm>
              <a:off x="0" y="0"/>
              <a:ext cx="1418577" cy="1117177"/>
            </a:xfrm>
            <a:custGeom>
              <a:avLst/>
              <a:gdLst/>
              <a:ahLst/>
              <a:cxnLst/>
              <a:rect l="l" t="t" r="r" b="b"/>
              <a:pathLst>
                <a:path w="1418577" h="1117177">
                  <a:moveTo>
                    <a:pt x="0" y="0"/>
                  </a:moveTo>
                  <a:lnTo>
                    <a:pt x="1418577" y="0"/>
                  </a:lnTo>
                  <a:lnTo>
                    <a:pt x="1418577" y="1117177"/>
                  </a:lnTo>
                  <a:lnTo>
                    <a:pt x="0" y="1117177"/>
                  </a:lnTo>
                  <a:close/>
                </a:path>
              </a:pathLst>
            </a:custGeom>
            <a:solidFill>
              <a:srgbClr val="9798DE"/>
            </a:solidFill>
            <a:ln w="19050" cap="sq">
              <a:solidFill>
                <a:srgbClr val="FFFFFF"/>
              </a:solidFill>
              <a:prstDash val="solid"/>
              <a:miter/>
            </a:ln>
          </p:spPr>
        </p:sp>
        <p:sp>
          <p:nvSpPr>
            <p:cNvPr id="4" name="TextBox 4"/>
            <p:cNvSpPr txBox="1"/>
            <p:nvPr/>
          </p:nvSpPr>
          <p:spPr>
            <a:xfrm>
              <a:off x="0" y="-38100"/>
              <a:ext cx="1418577" cy="1155277"/>
            </a:xfrm>
            <a:prstGeom prst="rect">
              <a:avLst/>
            </a:prstGeom>
          </p:spPr>
          <p:txBody>
            <a:bodyPr lIns="50800" tIns="50800" rIns="50800" bIns="50800" rtlCol="0" anchor="ctr"/>
            <a:lstStyle/>
            <a:p>
              <a:pPr algn="ctr">
                <a:lnSpc>
                  <a:spcPts val="2605"/>
                </a:lnSpc>
              </a:pPr>
              <a:endParaRPr/>
            </a:p>
          </p:txBody>
        </p:sp>
      </p:grpSp>
      <p:sp>
        <p:nvSpPr>
          <p:cNvPr id="5" name="Freeform 5"/>
          <p:cNvSpPr/>
          <p:nvPr/>
        </p:nvSpPr>
        <p:spPr>
          <a:xfrm>
            <a:off x="1903166" y="3773511"/>
            <a:ext cx="2409109" cy="2403962"/>
          </a:xfrm>
          <a:custGeom>
            <a:avLst/>
            <a:gdLst/>
            <a:ahLst/>
            <a:cxnLst/>
            <a:rect l="l" t="t" r="r" b="b"/>
            <a:pathLst>
              <a:path w="2409109" h="2403962">
                <a:moveTo>
                  <a:pt x="0" y="0"/>
                </a:moveTo>
                <a:lnTo>
                  <a:pt x="2409110" y="0"/>
                </a:lnTo>
                <a:lnTo>
                  <a:pt x="2409110" y="2403961"/>
                </a:lnTo>
                <a:lnTo>
                  <a:pt x="0" y="2403961"/>
                </a:lnTo>
                <a:lnTo>
                  <a:pt x="0" y="0"/>
                </a:lnTo>
                <a:close/>
              </a:path>
            </a:pathLst>
          </a:custGeom>
          <a:blipFill>
            <a:blip r:embed="rId2"/>
            <a:stretch>
              <a:fillRect/>
            </a:stretch>
          </a:blipFill>
        </p:spPr>
      </p:sp>
      <p:grpSp>
        <p:nvGrpSpPr>
          <p:cNvPr id="6" name="Group 6"/>
          <p:cNvGrpSpPr/>
          <p:nvPr/>
        </p:nvGrpSpPr>
        <p:grpSpPr>
          <a:xfrm>
            <a:off x="6844835" y="5016517"/>
            <a:ext cx="5268729" cy="4241783"/>
            <a:chOff x="0" y="0"/>
            <a:chExt cx="1387649" cy="1117177"/>
          </a:xfrm>
        </p:grpSpPr>
        <p:sp>
          <p:nvSpPr>
            <p:cNvPr id="7" name="Freeform 7"/>
            <p:cNvSpPr/>
            <p:nvPr/>
          </p:nvSpPr>
          <p:spPr>
            <a:xfrm>
              <a:off x="0" y="0"/>
              <a:ext cx="1387649" cy="1117177"/>
            </a:xfrm>
            <a:custGeom>
              <a:avLst/>
              <a:gdLst/>
              <a:ahLst/>
              <a:cxnLst/>
              <a:rect l="l" t="t" r="r" b="b"/>
              <a:pathLst>
                <a:path w="1387649" h="1117177">
                  <a:moveTo>
                    <a:pt x="0" y="0"/>
                  </a:moveTo>
                  <a:lnTo>
                    <a:pt x="1387649" y="0"/>
                  </a:lnTo>
                  <a:lnTo>
                    <a:pt x="1387649" y="1117177"/>
                  </a:lnTo>
                  <a:lnTo>
                    <a:pt x="0" y="1117177"/>
                  </a:lnTo>
                  <a:close/>
                </a:path>
              </a:pathLst>
            </a:custGeom>
            <a:solidFill>
              <a:srgbClr val="9798DE"/>
            </a:solidFill>
            <a:ln w="19050" cap="sq">
              <a:solidFill>
                <a:srgbClr val="FFFFFF"/>
              </a:solidFill>
              <a:prstDash val="solid"/>
              <a:miter/>
            </a:ln>
          </p:spPr>
        </p:sp>
        <p:sp>
          <p:nvSpPr>
            <p:cNvPr id="8" name="TextBox 8"/>
            <p:cNvSpPr txBox="1"/>
            <p:nvPr/>
          </p:nvSpPr>
          <p:spPr>
            <a:xfrm>
              <a:off x="0" y="-38100"/>
              <a:ext cx="1387649" cy="1155277"/>
            </a:xfrm>
            <a:prstGeom prst="rect">
              <a:avLst/>
            </a:prstGeom>
          </p:spPr>
          <p:txBody>
            <a:bodyPr lIns="50800" tIns="50800" rIns="50800" bIns="50800" rtlCol="0" anchor="ctr"/>
            <a:lstStyle/>
            <a:p>
              <a:pPr algn="ctr">
                <a:lnSpc>
                  <a:spcPts val="2605"/>
                </a:lnSpc>
              </a:pPr>
              <a:endParaRPr/>
            </a:p>
          </p:txBody>
        </p:sp>
      </p:grpSp>
      <p:grpSp>
        <p:nvGrpSpPr>
          <p:cNvPr id="9" name="Group 9"/>
          <p:cNvGrpSpPr/>
          <p:nvPr/>
        </p:nvGrpSpPr>
        <p:grpSpPr>
          <a:xfrm>
            <a:off x="12793029" y="5016517"/>
            <a:ext cx="5069764" cy="4241783"/>
            <a:chOff x="0" y="0"/>
            <a:chExt cx="1335246" cy="1117177"/>
          </a:xfrm>
        </p:grpSpPr>
        <p:sp>
          <p:nvSpPr>
            <p:cNvPr id="10" name="Freeform 10"/>
            <p:cNvSpPr/>
            <p:nvPr/>
          </p:nvSpPr>
          <p:spPr>
            <a:xfrm>
              <a:off x="0" y="0"/>
              <a:ext cx="1335246" cy="1117177"/>
            </a:xfrm>
            <a:custGeom>
              <a:avLst/>
              <a:gdLst/>
              <a:ahLst/>
              <a:cxnLst/>
              <a:rect l="l" t="t" r="r" b="b"/>
              <a:pathLst>
                <a:path w="1335246" h="1117177">
                  <a:moveTo>
                    <a:pt x="0" y="0"/>
                  </a:moveTo>
                  <a:lnTo>
                    <a:pt x="1335246" y="0"/>
                  </a:lnTo>
                  <a:lnTo>
                    <a:pt x="1335246" y="1117177"/>
                  </a:lnTo>
                  <a:lnTo>
                    <a:pt x="0" y="1117177"/>
                  </a:lnTo>
                  <a:close/>
                </a:path>
              </a:pathLst>
            </a:custGeom>
            <a:solidFill>
              <a:srgbClr val="9798DE"/>
            </a:solidFill>
            <a:ln w="19050" cap="sq">
              <a:solidFill>
                <a:srgbClr val="FFFFFF"/>
              </a:solidFill>
              <a:prstDash val="solid"/>
              <a:miter/>
            </a:ln>
          </p:spPr>
        </p:sp>
        <p:sp>
          <p:nvSpPr>
            <p:cNvPr id="11" name="TextBox 11"/>
            <p:cNvSpPr txBox="1"/>
            <p:nvPr/>
          </p:nvSpPr>
          <p:spPr>
            <a:xfrm>
              <a:off x="0" y="-38100"/>
              <a:ext cx="1335246" cy="1155277"/>
            </a:xfrm>
            <a:prstGeom prst="rect">
              <a:avLst/>
            </a:prstGeom>
          </p:spPr>
          <p:txBody>
            <a:bodyPr lIns="50800" tIns="50800" rIns="50800" bIns="50800" rtlCol="0" anchor="ctr"/>
            <a:lstStyle/>
            <a:p>
              <a:pPr algn="ctr">
                <a:lnSpc>
                  <a:spcPts val="2605"/>
                </a:lnSpc>
              </a:pPr>
              <a:endParaRPr/>
            </a:p>
          </p:txBody>
        </p:sp>
      </p:grpSp>
      <p:sp>
        <p:nvSpPr>
          <p:cNvPr id="12" name="Freeform 12"/>
          <p:cNvSpPr/>
          <p:nvPr/>
        </p:nvSpPr>
        <p:spPr>
          <a:xfrm>
            <a:off x="7897780" y="3773511"/>
            <a:ext cx="3003790" cy="2162729"/>
          </a:xfrm>
          <a:custGeom>
            <a:avLst/>
            <a:gdLst/>
            <a:ahLst/>
            <a:cxnLst/>
            <a:rect l="l" t="t" r="r" b="b"/>
            <a:pathLst>
              <a:path w="3003790" h="2162729">
                <a:moveTo>
                  <a:pt x="0" y="0"/>
                </a:moveTo>
                <a:lnTo>
                  <a:pt x="3003790" y="0"/>
                </a:lnTo>
                <a:lnTo>
                  <a:pt x="3003790" y="2162729"/>
                </a:lnTo>
                <a:lnTo>
                  <a:pt x="0" y="216272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14289460" y="4192759"/>
            <a:ext cx="2076902" cy="1565465"/>
          </a:xfrm>
          <a:custGeom>
            <a:avLst/>
            <a:gdLst/>
            <a:ahLst/>
            <a:cxnLst/>
            <a:rect l="l" t="t" r="r" b="b"/>
            <a:pathLst>
              <a:path w="2076902" h="1565465">
                <a:moveTo>
                  <a:pt x="0" y="0"/>
                </a:moveTo>
                <a:lnTo>
                  <a:pt x="2076902" y="0"/>
                </a:lnTo>
                <a:lnTo>
                  <a:pt x="2076902" y="1565465"/>
                </a:lnTo>
                <a:lnTo>
                  <a:pt x="0" y="15654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441539" y="523684"/>
            <a:ext cx="7043261" cy="914781"/>
          </a:xfrm>
          <a:prstGeom prst="rect">
            <a:avLst/>
          </a:prstGeom>
        </p:spPr>
        <p:txBody>
          <a:bodyPr lIns="0" tIns="0" rIns="0" bIns="0" rtlCol="0" anchor="t">
            <a:spAutoFit/>
          </a:bodyPr>
          <a:lstStyle/>
          <a:p>
            <a:pPr algn="ctr">
              <a:lnSpc>
                <a:spcPts val="7452"/>
              </a:lnSpc>
              <a:spcBef>
                <a:spcPct val="0"/>
              </a:spcBef>
            </a:pPr>
            <a:r>
              <a:rPr lang="en-US" sz="5400" b="1">
                <a:solidFill>
                  <a:srgbClr val="FFFFFF"/>
                </a:solidFill>
                <a:latin typeface="DM Sans Bold"/>
                <a:ea typeface="DM Sans Bold"/>
                <a:cs typeface="DM Sans Bold"/>
                <a:sym typeface="DM Sans Bold"/>
              </a:rPr>
              <a:t>DISPLAYING RESULTS</a:t>
            </a:r>
          </a:p>
        </p:txBody>
      </p:sp>
      <p:sp>
        <p:nvSpPr>
          <p:cNvPr id="15" name="TextBox 15"/>
          <p:cNvSpPr txBox="1"/>
          <p:nvPr/>
        </p:nvSpPr>
        <p:spPr>
          <a:xfrm>
            <a:off x="441539" y="1623734"/>
            <a:ext cx="17353246" cy="2084070"/>
          </a:xfrm>
          <a:prstGeom prst="rect">
            <a:avLst/>
          </a:prstGeom>
        </p:spPr>
        <p:txBody>
          <a:bodyPr lIns="0" tIns="0" rIns="0" bIns="0" rtlCol="0" anchor="t">
            <a:spAutoFit/>
          </a:bodyPr>
          <a:lstStyle/>
          <a:p>
            <a:pPr algn="just">
              <a:lnSpc>
                <a:spcPts val="4140"/>
              </a:lnSpc>
              <a:spcBef>
                <a:spcPct val="0"/>
              </a:spcBef>
            </a:pPr>
            <a:r>
              <a:rPr lang="en-US" sz="3000">
                <a:solidFill>
                  <a:srgbClr val="FFFFFF"/>
                </a:solidFill>
                <a:latin typeface="DM Sans"/>
                <a:ea typeface="DM Sans"/>
                <a:cs typeface="DM Sans"/>
                <a:sym typeface="DM Sans"/>
              </a:rPr>
              <a:t>The user uploads Aadhaar images and an Excel file, which are processed using classification, detection, and OCR models to extract and verify details. The backend compares the data, generates match scores, provides JSON results for the frontend, and allows users to download the final results.xlsx file.</a:t>
            </a:r>
          </a:p>
        </p:txBody>
      </p:sp>
      <p:sp>
        <p:nvSpPr>
          <p:cNvPr id="16" name="TextBox 16"/>
          <p:cNvSpPr txBox="1"/>
          <p:nvPr/>
        </p:nvSpPr>
        <p:spPr>
          <a:xfrm>
            <a:off x="768919" y="6450024"/>
            <a:ext cx="4694791" cy="2421636"/>
          </a:xfrm>
          <a:prstGeom prst="rect">
            <a:avLst/>
          </a:prstGeom>
        </p:spPr>
        <p:txBody>
          <a:bodyPr lIns="0" tIns="0" rIns="0" bIns="0" rtlCol="0" anchor="t">
            <a:spAutoFit/>
          </a:bodyPr>
          <a:lstStyle/>
          <a:p>
            <a:pPr algn="ctr">
              <a:lnSpc>
                <a:spcPts val="3449"/>
              </a:lnSpc>
            </a:pPr>
            <a:r>
              <a:rPr lang="en-US" sz="2499" b="1">
                <a:solidFill>
                  <a:srgbClr val="FFFFFF"/>
                </a:solidFill>
                <a:latin typeface="DM Sans Bold"/>
                <a:ea typeface="DM Sans Bold"/>
                <a:cs typeface="DM Sans Bold"/>
                <a:sym typeface="DM Sans Bold"/>
              </a:rPr>
              <a:t>Processing Aadhaar Data</a:t>
            </a:r>
          </a:p>
          <a:p>
            <a:pPr algn="ctr">
              <a:lnSpc>
                <a:spcPts val="3174"/>
              </a:lnSpc>
              <a:spcBef>
                <a:spcPct val="0"/>
              </a:spcBef>
            </a:pPr>
            <a:r>
              <a:rPr lang="en-US" sz="2300">
                <a:solidFill>
                  <a:srgbClr val="FFFFFF"/>
                </a:solidFill>
                <a:latin typeface="DM Sans"/>
                <a:ea typeface="DM Sans"/>
                <a:cs typeface="DM Sans"/>
                <a:sym typeface="DM Sans"/>
              </a:rPr>
              <a:t>The user uploads Aadhaar images and an Excel file, which are processed using classification, detection, and OCR models to extract and verify details.</a:t>
            </a:r>
          </a:p>
        </p:txBody>
      </p:sp>
      <p:sp>
        <p:nvSpPr>
          <p:cNvPr id="17" name="TextBox 17"/>
          <p:cNvSpPr txBox="1"/>
          <p:nvPr/>
        </p:nvSpPr>
        <p:spPr>
          <a:xfrm>
            <a:off x="7040574" y="6450024"/>
            <a:ext cx="4877251" cy="2421636"/>
          </a:xfrm>
          <a:prstGeom prst="rect">
            <a:avLst/>
          </a:prstGeom>
        </p:spPr>
        <p:txBody>
          <a:bodyPr lIns="0" tIns="0" rIns="0" bIns="0" rtlCol="0" anchor="t">
            <a:spAutoFit/>
          </a:bodyPr>
          <a:lstStyle/>
          <a:p>
            <a:pPr algn="ctr">
              <a:lnSpc>
                <a:spcPts val="3449"/>
              </a:lnSpc>
            </a:pPr>
            <a:r>
              <a:rPr lang="en-US" sz="2499" b="1" dirty="0">
                <a:solidFill>
                  <a:srgbClr val="FFFFFF"/>
                </a:solidFill>
                <a:latin typeface="DM Sans Bold"/>
                <a:ea typeface="DM Sans Bold"/>
                <a:cs typeface="DM Sans Bold"/>
                <a:sym typeface="DM Sans Bold"/>
              </a:rPr>
              <a:t>Generate Results</a:t>
            </a:r>
          </a:p>
          <a:p>
            <a:pPr algn="ctr">
              <a:lnSpc>
                <a:spcPts val="3174"/>
              </a:lnSpc>
              <a:spcBef>
                <a:spcPct val="0"/>
              </a:spcBef>
            </a:pPr>
            <a:r>
              <a:rPr lang="en-US" sz="2300" dirty="0">
                <a:solidFill>
                  <a:srgbClr val="FFFFFF"/>
                </a:solidFill>
                <a:latin typeface="DM Sans"/>
                <a:ea typeface="DM Sans"/>
                <a:cs typeface="DM Sans"/>
                <a:sym typeface="DM Sans"/>
              </a:rPr>
              <a:t>Extracted data is compared with the Excel file, match scores are calculated, and a `results.xlsx` file is created with remarks like "All matched" or "UID mismatch."</a:t>
            </a:r>
          </a:p>
        </p:txBody>
      </p:sp>
      <p:sp>
        <p:nvSpPr>
          <p:cNvPr id="18" name="TextBox 18"/>
          <p:cNvSpPr txBox="1"/>
          <p:nvPr/>
        </p:nvSpPr>
        <p:spPr>
          <a:xfrm>
            <a:off x="13297987" y="6450024"/>
            <a:ext cx="4059847" cy="2421636"/>
          </a:xfrm>
          <a:prstGeom prst="rect">
            <a:avLst/>
          </a:prstGeom>
        </p:spPr>
        <p:txBody>
          <a:bodyPr lIns="0" tIns="0" rIns="0" bIns="0" rtlCol="0" anchor="t">
            <a:spAutoFit/>
          </a:bodyPr>
          <a:lstStyle/>
          <a:p>
            <a:pPr algn="ctr">
              <a:lnSpc>
                <a:spcPts val="3449"/>
              </a:lnSpc>
            </a:pPr>
            <a:r>
              <a:rPr lang="en-US" sz="2499" b="1">
                <a:solidFill>
                  <a:srgbClr val="FFFFFF"/>
                </a:solidFill>
                <a:latin typeface="DM Sans Bold"/>
                <a:ea typeface="DM Sans Bold"/>
                <a:cs typeface="DM Sans Bold"/>
                <a:sym typeface="DM Sans Bold"/>
              </a:rPr>
              <a:t>Displaying Results</a:t>
            </a:r>
          </a:p>
          <a:p>
            <a:pPr algn="ctr">
              <a:lnSpc>
                <a:spcPts val="3174"/>
              </a:lnSpc>
              <a:spcBef>
                <a:spcPct val="0"/>
              </a:spcBef>
            </a:pPr>
            <a:r>
              <a:rPr lang="en-US" sz="2300">
                <a:solidFill>
                  <a:srgbClr val="FFFFFF"/>
                </a:solidFill>
                <a:latin typeface="DM Sans"/>
                <a:ea typeface="DM Sans"/>
                <a:cs typeface="DM Sans"/>
                <a:sym typeface="DM Sans"/>
              </a:rPr>
              <a:t>The backend returns JSON results for the frontend to display, and users can download the full results via the `/download` endpoint.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379347" y="623847"/>
            <a:ext cx="9529306" cy="1015365"/>
          </a:xfrm>
          <a:prstGeom prst="rect">
            <a:avLst/>
          </a:prstGeom>
        </p:spPr>
        <p:txBody>
          <a:bodyPr lIns="0" tIns="0" rIns="0" bIns="0" rtlCol="0" anchor="t">
            <a:spAutoFit/>
          </a:bodyPr>
          <a:lstStyle/>
          <a:p>
            <a:pPr algn="ctr">
              <a:lnSpc>
                <a:spcPts val="8280"/>
              </a:lnSpc>
              <a:spcBef>
                <a:spcPct val="0"/>
              </a:spcBef>
            </a:pPr>
            <a:r>
              <a:rPr lang="en-US" sz="6000" b="1">
                <a:solidFill>
                  <a:srgbClr val="645CDD"/>
                </a:solidFill>
                <a:latin typeface="DM Sans Bold"/>
                <a:ea typeface="DM Sans Bold"/>
                <a:cs typeface="DM Sans Bold"/>
                <a:sym typeface="DM Sans Bold"/>
              </a:rPr>
              <a:t>CHALLENGES FACED</a:t>
            </a:r>
          </a:p>
        </p:txBody>
      </p:sp>
      <p:sp>
        <p:nvSpPr>
          <p:cNvPr id="3" name="AutoShape 3"/>
          <p:cNvSpPr/>
          <p:nvPr/>
        </p:nvSpPr>
        <p:spPr>
          <a:xfrm>
            <a:off x="4776289" y="1663025"/>
            <a:ext cx="8735422" cy="0"/>
          </a:xfrm>
          <a:prstGeom prst="line">
            <a:avLst/>
          </a:prstGeom>
          <a:ln w="47625" cap="flat">
            <a:solidFill>
              <a:srgbClr val="645CDD"/>
            </a:solidFill>
            <a:prstDash val="solid"/>
            <a:headEnd type="none" w="sm" len="sm"/>
            <a:tailEnd type="none" w="sm" len="sm"/>
          </a:ln>
        </p:spPr>
      </p:sp>
      <p:sp>
        <p:nvSpPr>
          <p:cNvPr id="4" name="Freeform 4"/>
          <p:cNvSpPr/>
          <p:nvPr/>
        </p:nvSpPr>
        <p:spPr>
          <a:xfrm>
            <a:off x="845511" y="2558938"/>
            <a:ext cx="950566" cy="1091038"/>
          </a:xfrm>
          <a:custGeom>
            <a:avLst/>
            <a:gdLst/>
            <a:ahLst/>
            <a:cxnLst/>
            <a:rect l="l" t="t" r="r" b="b"/>
            <a:pathLst>
              <a:path w="950566" h="1091038">
                <a:moveTo>
                  <a:pt x="0" y="0"/>
                </a:moveTo>
                <a:lnTo>
                  <a:pt x="950567" y="0"/>
                </a:lnTo>
                <a:lnTo>
                  <a:pt x="950567" y="1091037"/>
                </a:lnTo>
                <a:lnTo>
                  <a:pt x="0" y="1091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447800" y="2778269"/>
            <a:ext cx="14071283" cy="596265"/>
          </a:xfrm>
          <a:prstGeom prst="rect">
            <a:avLst/>
          </a:prstGeom>
        </p:spPr>
        <p:txBody>
          <a:bodyPr wrap="square" lIns="0" tIns="0" rIns="0" bIns="0" rtlCol="0" anchor="t">
            <a:spAutoFit/>
          </a:bodyPr>
          <a:lstStyle/>
          <a:p>
            <a:pPr algn="ctr">
              <a:lnSpc>
                <a:spcPts val="4830"/>
              </a:lnSpc>
              <a:spcBef>
                <a:spcPct val="0"/>
              </a:spcBef>
            </a:pPr>
            <a:r>
              <a:rPr lang="en-US" sz="3500" b="1" dirty="0">
                <a:solidFill>
                  <a:srgbClr val="645CDD"/>
                </a:solidFill>
                <a:latin typeface="DM Sans Bold"/>
                <a:ea typeface="DM Sans Bold"/>
                <a:cs typeface="DM Sans Bold"/>
                <a:sym typeface="DM Sans Bold"/>
              </a:rPr>
              <a:t>Data Collection: Limited publicly available Aadhaar datasets.</a:t>
            </a:r>
          </a:p>
        </p:txBody>
      </p:sp>
      <p:sp>
        <p:nvSpPr>
          <p:cNvPr id="6" name="Freeform 6"/>
          <p:cNvSpPr/>
          <p:nvPr/>
        </p:nvSpPr>
        <p:spPr>
          <a:xfrm>
            <a:off x="809453" y="4986676"/>
            <a:ext cx="950566" cy="1091038"/>
          </a:xfrm>
          <a:custGeom>
            <a:avLst/>
            <a:gdLst/>
            <a:ahLst/>
            <a:cxnLst/>
            <a:rect l="l" t="t" r="r" b="b"/>
            <a:pathLst>
              <a:path w="950566" h="1091038">
                <a:moveTo>
                  <a:pt x="0" y="0"/>
                </a:moveTo>
                <a:lnTo>
                  <a:pt x="950567" y="0"/>
                </a:lnTo>
                <a:lnTo>
                  <a:pt x="950567" y="1091038"/>
                </a:lnTo>
                <a:lnTo>
                  <a:pt x="0" y="1091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7" name="Freeform 7"/>
          <p:cNvSpPr/>
          <p:nvPr/>
        </p:nvSpPr>
        <p:spPr>
          <a:xfrm>
            <a:off x="845511" y="7484674"/>
            <a:ext cx="950566" cy="1091038"/>
          </a:xfrm>
          <a:custGeom>
            <a:avLst/>
            <a:gdLst/>
            <a:ahLst/>
            <a:cxnLst/>
            <a:rect l="l" t="t" r="r" b="b"/>
            <a:pathLst>
              <a:path w="950566" h="1091038">
                <a:moveTo>
                  <a:pt x="0" y="0"/>
                </a:moveTo>
                <a:lnTo>
                  <a:pt x="950567" y="0"/>
                </a:lnTo>
                <a:lnTo>
                  <a:pt x="950567" y="1091038"/>
                </a:lnTo>
                <a:lnTo>
                  <a:pt x="0" y="1091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694675" y="5234063"/>
            <a:ext cx="14898649" cy="596265"/>
          </a:xfrm>
          <a:prstGeom prst="rect">
            <a:avLst/>
          </a:prstGeom>
        </p:spPr>
        <p:txBody>
          <a:bodyPr wrap="square" lIns="0" tIns="0" rIns="0" bIns="0" rtlCol="0" anchor="t">
            <a:spAutoFit/>
          </a:bodyPr>
          <a:lstStyle/>
          <a:p>
            <a:pPr algn="ctr">
              <a:lnSpc>
                <a:spcPts val="4830"/>
              </a:lnSpc>
              <a:spcBef>
                <a:spcPct val="0"/>
              </a:spcBef>
            </a:pPr>
            <a:r>
              <a:rPr lang="en-US" sz="3500" b="1" dirty="0">
                <a:solidFill>
                  <a:srgbClr val="645CDD"/>
                </a:solidFill>
                <a:latin typeface="DM Sans Bold"/>
                <a:ea typeface="DM Sans Bold"/>
                <a:cs typeface="DM Sans Bold"/>
                <a:sym typeface="DM Sans Bold"/>
              </a:rPr>
              <a:t>Model Optimization: Fine-tuning YOLO for precise fraud detection.</a:t>
            </a:r>
          </a:p>
        </p:txBody>
      </p:sp>
      <p:sp>
        <p:nvSpPr>
          <p:cNvPr id="9" name="TextBox 9"/>
          <p:cNvSpPr txBox="1"/>
          <p:nvPr/>
        </p:nvSpPr>
        <p:spPr>
          <a:xfrm>
            <a:off x="1931719" y="7735240"/>
            <a:ext cx="14165889" cy="589905"/>
          </a:xfrm>
          <a:prstGeom prst="rect">
            <a:avLst/>
          </a:prstGeom>
        </p:spPr>
        <p:txBody>
          <a:bodyPr wrap="square" lIns="0" tIns="0" rIns="0" bIns="0" rtlCol="0" anchor="t">
            <a:spAutoFit/>
          </a:bodyPr>
          <a:lstStyle/>
          <a:p>
            <a:pPr algn="ctr">
              <a:lnSpc>
                <a:spcPts val="4830"/>
              </a:lnSpc>
              <a:spcBef>
                <a:spcPct val="0"/>
              </a:spcBef>
            </a:pPr>
            <a:r>
              <a:rPr lang="en-US" sz="3500" b="1" dirty="0">
                <a:solidFill>
                  <a:srgbClr val="645CDD"/>
                </a:solidFill>
                <a:latin typeface="DM Sans Bold"/>
                <a:ea typeface="DM Sans Bold"/>
                <a:cs typeface="DM Sans Bold"/>
                <a:sym typeface="DM Sans Bold"/>
              </a:rPr>
              <a:t>OCR Accuracy: Managing variations in font styles and text clarity.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45CDD"/>
        </a:solidFill>
        <a:effectLst/>
      </p:bgPr>
    </p:bg>
    <p:spTree>
      <p:nvGrpSpPr>
        <p:cNvPr id="1" name=""/>
        <p:cNvGrpSpPr/>
        <p:nvPr/>
      </p:nvGrpSpPr>
      <p:grpSpPr>
        <a:xfrm>
          <a:off x="0" y="0"/>
          <a:ext cx="0" cy="0"/>
          <a:chOff x="0" y="0"/>
          <a:chExt cx="0" cy="0"/>
        </a:xfrm>
      </p:grpSpPr>
      <p:sp>
        <p:nvSpPr>
          <p:cNvPr id="2" name="AutoShape 2"/>
          <p:cNvSpPr/>
          <p:nvPr/>
        </p:nvSpPr>
        <p:spPr>
          <a:xfrm>
            <a:off x="3026029" y="1204064"/>
            <a:ext cx="12235942" cy="0"/>
          </a:xfrm>
          <a:prstGeom prst="line">
            <a:avLst/>
          </a:prstGeom>
          <a:ln w="47625" cap="flat">
            <a:solidFill>
              <a:srgbClr val="FFFFFF"/>
            </a:solidFill>
            <a:prstDash val="solid"/>
            <a:headEnd type="none" w="sm" len="sm"/>
            <a:tailEnd type="none" w="sm" len="sm"/>
          </a:ln>
        </p:spPr>
      </p:sp>
      <p:sp>
        <p:nvSpPr>
          <p:cNvPr id="3" name="Freeform 3"/>
          <p:cNvSpPr/>
          <p:nvPr/>
        </p:nvSpPr>
        <p:spPr>
          <a:xfrm>
            <a:off x="2298938" y="2017825"/>
            <a:ext cx="13408287" cy="7240475"/>
          </a:xfrm>
          <a:custGeom>
            <a:avLst/>
            <a:gdLst/>
            <a:ahLst/>
            <a:cxnLst/>
            <a:rect l="l" t="t" r="r" b="b"/>
            <a:pathLst>
              <a:path w="13408287" h="7240475">
                <a:moveTo>
                  <a:pt x="0" y="0"/>
                </a:moveTo>
                <a:lnTo>
                  <a:pt x="13408287" y="0"/>
                </a:lnTo>
                <a:lnTo>
                  <a:pt x="13408287" y="7240475"/>
                </a:lnTo>
                <a:lnTo>
                  <a:pt x="0" y="72404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508450" y="4995184"/>
            <a:ext cx="989263" cy="1086652"/>
          </a:xfrm>
          <a:custGeom>
            <a:avLst/>
            <a:gdLst/>
            <a:ahLst/>
            <a:cxnLst/>
            <a:rect l="l" t="t" r="r" b="b"/>
            <a:pathLst>
              <a:path w="989263" h="1086652">
                <a:moveTo>
                  <a:pt x="0" y="0"/>
                </a:moveTo>
                <a:lnTo>
                  <a:pt x="989263" y="0"/>
                </a:lnTo>
                <a:lnTo>
                  <a:pt x="989263" y="1086652"/>
                </a:lnTo>
                <a:lnTo>
                  <a:pt x="0" y="1086652"/>
                </a:lnTo>
                <a:lnTo>
                  <a:pt x="0" y="0"/>
                </a:lnTo>
                <a:close/>
              </a:path>
            </a:pathLst>
          </a:custGeom>
          <a:blipFill>
            <a:blip r:embed="rId4"/>
            <a:stretch>
              <a:fillRect/>
            </a:stretch>
          </a:blipFill>
        </p:spPr>
      </p:sp>
      <p:sp>
        <p:nvSpPr>
          <p:cNvPr id="5" name="TextBox 5"/>
          <p:cNvSpPr txBox="1"/>
          <p:nvPr/>
        </p:nvSpPr>
        <p:spPr>
          <a:xfrm>
            <a:off x="5316676" y="171450"/>
            <a:ext cx="7654647" cy="857250"/>
          </a:xfrm>
          <a:prstGeom prst="rect">
            <a:avLst/>
          </a:prstGeom>
        </p:spPr>
        <p:txBody>
          <a:bodyPr lIns="0" tIns="0" rIns="0" bIns="0" rtlCol="0" anchor="t">
            <a:spAutoFit/>
          </a:bodyPr>
          <a:lstStyle/>
          <a:p>
            <a:pPr algn="ctr">
              <a:lnSpc>
                <a:spcPts val="6900"/>
              </a:lnSpc>
              <a:spcBef>
                <a:spcPct val="0"/>
              </a:spcBef>
            </a:pPr>
            <a:r>
              <a:rPr lang="en-US" sz="5000" b="1">
                <a:solidFill>
                  <a:srgbClr val="FFFFFF"/>
                </a:solidFill>
                <a:latin typeface="DM Sans Bold"/>
                <a:ea typeface="DM Sans Bold"/>
                <a:cs typeface="DM Sans Bold"/>
                <a:sym typeface="DM Sans Bold"/>
              </a:rPr>
              <a:t>FUTURE ENHANCEMENTS</a:t>
            </a:r>
          </a:p>
        </p:txBody>
      </p:sp>
      <p:sp>
        <p:nvSpPr>
          <p:cNvPr id="6" name="TextBox 6"/>
          <p:cNvSpPr txBox="1"/>
          <p:nvPr/>
        </p:nvSpPr>
        <p:spPr>
          <a:xfrm>
            <a:off x="12627220" y="4281190"/>
            <a:ext cx="2198573" cy="713994"/>
          </a:xfrm>
          <a:prstGeom prst="rect">
            <a:avLst/>
          </a:prstGeom>
        </p:spPr>
        <p:txBody>
          <a:bodyPr lIns="0" tIns="0" rIns="0" bIns="0" rtlCol="0" anchor="t">
            <a:spAutoFit/>
          </a:bodyPr>
          <a:lstStyle/>
          <a:p>
            <a:pPr algn="l">
              <a:lnSpc>
                <a:spcPts val="2897"/>
              </a:lnSpc>
            </a:pPr>
            <a:r>
              <a:rPr lang="en-US" sz="2100" b="1">
                <a:solidFill>
                  <a:srgbClr val="FFFFFF"/>
                </a:solidFill>
                <a:latin typeface="DM Sans Bold"/>
                <a:ea typeface="DM Sans Bold"/>
                <a:cs typeface="DM Sans Bold"/>
                <a:sym typeface="DM Sans Bold"/>
              </a:rPr>
              <a:t>API &amp; Security Enhancements</a:t>
            </a:r>
          </a:p>
        </p:txBody>
      </p:sp>
      <p:sp>
        <p:nvSpPr>
          <p:cNvPr id="7" name="TextBox 7"/>
          <p:cNvSpPr txBox="1"/>
          <p:nvPr/>
        </p:nvSpPr>
        <p:spPr>
          <a:xfrm>
            <a:off x="2789563" y="2214646"/>
            <a:ext cx="2972932" cy="1075944"/>
          </a:xfrm>
          <a:prstGeom prst="rect">
            <a:avLst/>
          </a:prstGeom>
        </p:spPr>
        <p:txBody>
          <a:bodyPr lIns="0" tIns="0" rIns="0" bIns="0" rtlCol="0" anchor="t">
            <a:spAutoFit/>
          </a:bodyPr>
          <a:lstStyle/>
          <a:p>
            <a:pPr algn="ctr">
              <a:lnSpc>
                <a:spcPts val="2897"/>
              </a:lnSpc>
              <a:spcBef>
                <a:spcPct val="0"/>
              </a:spcBef>
            </a:pPr>
            <a:r>
              <a:rPr lang="en-US" sz="2100">
                <a:solidFill>
                  <a:srgbClr val="FFFFFF"/>
                </a:solidFill>
                <a:latin typeface="DM Sans"/>
                <a:ea typeface="DM Sans"/>
                <a:cs typeface="DM Sans"/>
                <a:sym typeface="DM Sans"/>
              </a:rPr>
              <a:t>Enhanced OCR Accuracy &amp; Multilingual Support</a:t>
            </a:r>
          </a:p>
        </p:txBody>
      </p:sp>
      <p:sp>
        <p:nvSpPr>
          <p:cNvPr id="8" name="TextBox 8"/>
          <p:cNvSpPr txBox="1"/>
          <p:nvPr/>
        </p:nvSpPr>
        <p:spPr>
          <a:xfrm>
            <a:off x="2915047" y="4281190"/>
            <a:ext cx="2721964" cy="713994"/>
          </a:xfrm>
          <a:prstGeom prst="rect">
            <a:avLst/>
          </a:prstGeom>
        </p:spPr>
        <p:txBody>
          <a:bodyPr lIns="0" tIns="0" rIns="0" bIns="0" rtlCol="0" anchor="t">
            <a:spAutoFit/>
          </a:bodyPr>
          <a:lstStyle/>
          <a:p>
            <a:pPr algn="ctr">
              <a:lnSpc>
                <a:spcPts val="2897"/>
              </a:lnSpc>
              <a:spcBef>
                <a:spcPct val="0"/>
              </a:spcBef>
            </a:pPr>
            <a:r>
              <a:rPr lang="en-US" sz="2100">
                <a:solidFill>
                  <a:srgbClr val="FFFFFF"/>
                </a:solidFill>
                <a:latin typeface="DM Sans"/>
                <a:ea typeface="DM Sans"/>
                <a:cs typeface="DM Sans"/>
                <a:sym typeface="DM Sans"/>
              </a:rPr>
              <a:t>Web-Based Dashboard </a:t>
            </a:r>
          </a:p>
        </p:txBody>
      </p:sp>
      <p:sp>
        <p:nvSpPr>
          <p:cNvPr id="9" name="TextBox 9"/>
          <p:cNvSpPr txBox="1"/>
          <p:nvPr/>
        </p:nvSpPr>
        <p:spPr>
          <a:xfrm>
            <a:off x="3163160" y="5985784"/>
            <a:ext cx="2225738" cy="1075944"/>
          </a:xfrm>
          <a:prstGeom prst="rect">
            <a:avLst/>
          </a:prstGeom>
        </p:spPr>
        <p:txBody>
          <a:bodyPr lIns="0" tIns="0" rIns="0" bIns="0" rtlCol="0" anchor="t">
            <a:spAutoFit/>
          </a:bodyPr>
          <a:lstStyle/>
          <a:p>
            <a:pPr algn="ctr">
              <a:lnSpc>
                <a:spcPts val="2897"/>
              </a:lnSpc>
              <a:spcBef>
                <a:spcPct val="0"/>
              </a:spcBef>
            </a:pPr>
            <a:r>
              <a:rPr lang="en-US" sz="2100">
                <a:solidFill>
                  <a:srgbClr val="FFFFFF"/>
                </a:solidFill>
                <a:latin typeface="DM Sans"/>
                <a:ea typeface="DM Sans"/>
                <a:cs typeface="DM Sans"/>
                <a:sym typeface="DM Sans"/>
              </a:rPr>
              <a:t>AI-Driven Data Validation &amp; Fraud Detection</a:t>
            </a:r>
          </a:p>
        </p:txBody>
      </p:sp>
      <p:sp>
        <p:nvSpPr>
          <p:cNvPr id="10" name="TextBox 10"/>
          <p:cNvSpPr txBox="1"/>
          <p:nvPr/>
        </p:nvSpPr>
        <p:spPr>
          <a:xfrm>
            <a:off x="2834350" y="8130730"/>
            <a:ext cx="2802661" cy="713994"/>
          </a:xfrm>
          <a:prstGeom prst="rect">
            <a:avLst/>
          </a:prstGeom>
        </p:spPr>
        <p:txBody>
          <a:bodyPr lIns="0" tIns="0" rIns="0" bIns="0" rtlCol="0" anchor="t">
            <a:spAutoFit/>
          </a:bodyPr>
          <a:lstStyle/>
          <a:p>
            <a:pPr algn="ctr">
              <a:lnSpc>
                <a:spcPts val="2897"/>
              </a:lnSpc>
              <a:spcBef>
                <a:spcPct val="0"/>
              </a:spcBef>
            </a:pPr>
            <a:r>
              <a:rPr lang="en-US" sz="2100">
                <a:solidFill>
                  <a:srgbClr val="FFFFFF"/>
                </a:solidFill>
                <a:latin typeface="DM Sans"/>
                <a:ea typeface="DM Sans"/>
                <a:cs typeface="DM Sans"/>
                <a:sym typeface="DM Sans"/>
              </a:rPr>
              <a:t>Cloud Integration &amp; Secure Storage </a:t>
            </a:r>
          </a:p>
        </p:txBody>
      </p:sp>
      <p:sp>
        <p:nvSpPr>
          <p:cNvPr id="11" name="TextBox 11"/>
          <p:cNvSpPr txBox="1"/>
          <p:nvPr/>
        </p:nvSpPr>
        <p:spPr>
          <a:xfrm>
            <a:off x="12456126" y="2395621"/>
            <a:ext cx="2369667" cy="713994"/>
          </a:xfrm>
          <a:prstGeom prst="rect">
            <a:avLst/>
          </a:prstGeom>
        </p:spPr>
        <p:txBody>
          <a:bodyPr lIns="0" tIns="0" rIns="0" bIns="0" rtlCol="0" anchor="t">
            <a:spAutoFit/>
          </a:bodyPr>
          <a:lstStyle/>
          <a:p>
            <a:pPr algn="ctr">
              <a:lnSpc>
                <a:spcPts val="2897"/>
              </a:lnSpc>
              <a:spcBef>
                <a:spcPct val="0"/>
              </a:spcBef>
            </a:pPr>
            <a:r>
              <a:rPr lang="en-US" sz="2100">
                <a:solidFill>
                  <a:srgbClr val="FFFFFF"/>
                </a:solidFill>
                <a:latin typeface="DM Sans"/>
                <a:ea typeface="DM Sans"/>
                <a:cs typeface="DM Sans"/>
                <a:sym typeface="DM Sans"/>
              </a:rPr>
              <a:t>Web-Based Data Visualisation</a:t>
            </a:r>
          </a:p>
        </p:txBody>
      </p:sp>
      <p:sp>
        <p:nvSpPr>
          <p:cNvPr id="12" name="TextBox 12"/>
          <p:cNvSpPr txBox="1"/>
          <p:nvPr/>
        </p:nvSpPr>
        <p:spPr>
          <a:xfrm>
            <a:off x="12242017" y="6166759"/>
            <a:ext cx="2797885" cy="713994"/>
          </a:xfrm>
          <a:prstGeom prst="rect">
            <a:avLst/>
          </a:prstGeom>
        </p:spPr>
        <p:txBody>
          <a:bodyPr lIns="0" tIns="0" rIns="0" bIns="0" rtlCol="0" anchor="t">
            <a:spAutoFit/>
          </a:bodyPr>
          <a:lstStyle/>
          <a:p>
            <a:pPr algn="ctr">
              <a:lnSpc>
                <a:spcPts val="2897"/>
              </a:lnSpc>
              <a:spcBef>
                <a:spcPct val="0"/>
              </a:spcBef>
            </a:pPr>
            <a:r>
              <a:rPr lang="en-US" sz="2100" b="1">
                <a:solidFill>
                  <a:srgbClr val="FFFFFF"/>
                </a:solidFill>
                <a:latin typeface="DM Sans Bold"/>
                <a:ea typeface="DM Sans Bold"/>
                <a:cs typeface="DM Sans Bold"/>
                <a:sym typeface="DM Sans Bold"/>
              </a:rPr>
              <a:t>Real Time Alert System</a:t>
            </a:r>
          </a:p>
        </p:txBody>
      </p:sp>
      <p:sp>
        <p:nvSpPr>
          <p:cNvPr id="13" name="TextBox 13"/>
          <p:cNvSpPr txBox="1"/>
          <p:nvPr/>
        </p:nvSpPr>
        <p:spPr>
          <a:xfrm>
            <a:off x="12249487" y="8052328"/>
            <a:ext cx="2954038" cy="713994"/>
          </a:xfrm>
          <a:prstGeom prst="rect">
            <a:avLst/>
          </a:prstGeom>
        </p:spPr>
        <p:txBody>
          <a:bodyPr lIns="0" tIns="0" rIns="0" bIns="0" rtlCol="0" anchor="t">
            <a:spAutoFit/>
          </a:bodyPr>
          <a:lstStyle/>
          <a:p>
            <a:pPr algn="ctr">
              <a:lnSpc>
                <a:spcPts val="2897"/>
              </a:lnSpc>
              <a:spcBef>
                <a:spcPct val="0"/>
              </a:spcBef>
            </a:pPr>
            <a:r>
              <a:rPr lang="en-US" sz="2100" b="1">
                <a:solidFill>
                  <a:srgbClr val="FFFFFF"/>
                </a:solidFill>
                <a:latin typeface="DM Sans Bold"/>
                <a:ea typeface="DM Sans Bold"/>
                <a:cs typeface="DM Sans Bold"/>
                <a:sym typeface="DM Sans Bold"/>
              </a:rPr>
              <a:t>Deep Learning-Based Forgery Detection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5517713" cy="10287000"/>
            <a:chOff x="0" y="0"/>
            <a:chExt cx="7356951" cy="13716000"/>
          </a:xfrm>
        </p:grpSpPr>
        <p:sp>
          <p:nvSpPr>
            <p:cNvPr id="3" name="AutoShape 3"/>
            <p:cNvSpPr/>
            <p:nvPr/>
          </p:nvSpPr>
          <p:spPr>
            <a:xfrm>
              <a:off x="0" y="0"/>
              <a:ext cx="7356951" cy="13716000"/>
            </a:xfrm>
            <a:prstGeom prst="rect">
              <a:avLst/>
            </a:prstGeom>
            <a:solidFill>
              <a:srgbClr val="645CDD"/>
            </a:solidFill>
          </p:spPr>
        </p:sp>
      </p:grpSp>
      <p:sp>
        <p:nvSpPr>
          <p:cNvPr id="4" name="Freeform 4"/>
          <p:cNvSpPr/>
          <p:nvPr/>
        </p:nvSpPr>
        <p:spPr>
          <a:xfrm>
            <a:off x="6053197" y="1042904"/>
            <a:ext cx="861930" cy="847726"/>
          </a:xfrm>
          <a:custGeom>
            <a:avLst/>
            <a:gdLst/>
            <a:ahLst/>
            <a:cxnLst/>
            <a:rect l="l" t="t" r="r" b="b"/>
            <a:pathLst>
              <a:path w="861930" h="861930">
                <a:moveTo>
                  <a:pt x="0" y="0"/>
                </a:moveTo>
                <a:lnTo>
                  <a:pt x="861930" y="0"/>
                </a:lnTo>
                <a:lnTo>
                  <a:pt x="861930" y="861930"/>
                </a:lnTo>
                <a:lnTo>
                  <a:pt x="0" y="861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92408" y="4277784"/>
            <a:ext cx="4132895" cy="1544955"/>
          </a:xfrm>
          <a:prstGeom prst="rect">
            <a:avLst/>
          </a:prstGeom>
        </p:spPr>
        <p:txBody>
          <a:bodyPr lIns="0" tIns="0" rIns="0" bIns="0" rtlCol="0" anchor="t">
            <a:spAutoFit/>
          </a:bodyPr>
          <a:lstStyle/>
          <a:p>
            <a:pPr algn="ctr">
              <a:lnSpc>
                <a:spcPts val="6209"/>
              </a:lnSpc>
              <a:spcBef>
                <a:spcPct val="0"/>
              </a:spcBef>
            </a:pPr>
            <a:r>
              <a:rPr lang="en-US" sz="4500" b="1" dirty="0">
                <a:solidFill>
                  <a:srgbClr val="FFFFFF"/>
                </a:solidFill>
                <a:latin typeface="DM Sans Bold"/>
                <a:ea typeface="DM Sans Bold"/>
                <a:cs typeface="DM Sans Bold"/>
                <a:sym typeface="DM Sans Bold"/>
              </a:rPr>
              <a:t>INTEGRATION POSSIBILITES</a:t>
            </a:r>
          </a:p>
        </p:txBody>
      </p:sp>
      <p:sp>
        <p:nvSpPr>
          <p:cNvPr id="6" name="Freeform 6"/>
          <p:cNvSpPr/>
          <p:nvPr/>
        </p:nvSpPr>
        <p:spPr>
          <a:xfrm>
            <a:off x="6053197" y="2890543"/>
            <a:ext cx="861930" cy="861930"/>
          </a:xfrm>
          <a:custGeom>
            <a:avLst/>
            <a:gdLst/>
            <a:ahLst/>
            <a:cxnLst/>
            <a:rect l="l" t="t" r="r" b="b"/>
            <a:pathLst>
              <a:path w="936704" h="936704">
                <a:moveTo>
                  <a:pt x="0" y="0"/>
                </a:moveTo>
                <a:lnTo>
                  <a:pt x="936704" y="0"/>
                </a:lnTo>
                <a:lnTo>
                  <a:pt x="936704" y="936704"/>
                </a:lnTo>
                <a:lnTo>
                  <a:pt x="0" y="9367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6053197" y="4606846"/>
            <a:ext cx="861930" cy="861930"/>
          </a:xfrm>
          <a:custGeom>
            <a:avLst/>
            <a:gdLst/>
            <a:ahLst/>
            <a:cxnLst/>
            <a:rect l="l" t="t" r="r" b="b"/>
            <a:pathLst>
              <a:path w="861930" h="861930">
                <a:moveTo>
                  <a:pt x="0" y="0"/>
                </a:moveTo>
                <a:lnTo>
                  <a:pt x="861930" y="0"/>
                </a:lnTo>
                <a:lnTo>
                  <a:pt x="861930" y="861930"/>
                </a:lnTo>
                <a:lnTo>
                  <a:pt x="0" y="861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6053197" y="6413579"/>
            <a:ext cx="861930" cy="861930"/>
          </a:xfrm>
          <a:custGeom>
            <a:avLst/>
            <a:gdLst/>
            <a:ahLst/>
            <a:cxnLst/>
            <a:rect l="l" t="t" r="r" b="b"/>
            <a:pathLst>
              <a:path w="861930" h="861930">
                <a:moveTo>
                  <a:pt x="0" y="0"/>
                </a:moveTo>
                <a:lnTo>
                  <a:pt x="861930" y="0"/>
                </a:lnTo>
                <a:lnTo>
                  <a:pt x="861930" y="861930"/>
                </a:lnTo>
                <a:lnTo>
                  <a:pt x="0" y="861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7068839" y="981075"/>
            <a:ext cx="10113682" cy="847725"/>
          </a:xfrm>
          <a:prstGeom prst="rect">
            <a:avLst/>
          </a:prstGeom>
        </p:spPr>
        <p:txBody>
          <a:bodyPr lIns="0" tIns="0" rIns="0" bIns="0" rtlCol="0" anchor="t">
            <a:spAutoFit/>
          </a:bodyPr>
          <a:lstStyle/>
          <a:p>
            <a:pPr algn="l">
              <a:lnSpc>
                <a:spcPts val="3449"/>
              </a:lnSpc>
              <a:spcBef>
                <a:spcPct val="0"/>
              </a:spcBef>
            </a:pPr>
            <a:r>
              <a:rPr lang="en-US" sz="2499" dirty="0">
                <a:solidFill>
                  <a:srgbClr val="000000"/>
                </a:solidFill>
                <a:latin typeface="DM Sans"/>
                <a:ea typeface="DM Sans"/>
                <a:cs typeface="DM Sans"/>
                <a:sym typeface="DM Sans"/>
              </a:rPr>
              <a:t>Government Agencies – A graphic of Aadhaar authentication or a government security system.</a:t>
            </a:r>
          </a:p>
        </p:txBody>
      </p:sp>
      <p:sp>
        <p:nvSpPr>
          <p:cNvPr id="10" name="TextBox 10"/>
          <p:cNvSpPr txBox="1"/>
          <p:nvPr/>
        </p:nvSpPr>
        <p:spPr>
          <a:xfrm>
            <a:off x="7130165" y="2890642"/>
            <a:ext cx="10584200" cy="847725"/>
          </a:xfrm>
          <a:prstGeom prst="rect">
            <a:avLst/>
          </a:prstGeom>
        </p:spPr>
        <p:txBody>
          <a:bodyPr lIns="0" tIns="0" rIns="0" bIns="0" rtlCol="0" anchor="t">
            <a:spAutoFit/>
          </a:bodyPr>
          <a:lstStyle/>
          <a:p>
            <a:pPr algn="l">
              <a:lnSpc>
                <a:spcPts val="3449"/>
              </a:lnSpc>
              <a:spcBef>
                <a:spcPct val="0"/>
              </a:spcBef>
            </a:pPr>
            <a:r>
              <a:rPr lang="en-US" sz="2499" dirty="0">
                <a:solidFill>
                  <a:srgbClr val="000000"/>
                </a:solidFill>
                <a:latin typeface="DM Sans"/>
                <a:ea typeface="DM Sans"/>
                <a:cs typeface="DM Sans"/>
                <a:sym typeface="DM Sans"/>
              </a:rPr>
              <a:t>Banking &amp; Financial Sector – A digital payment authentication image or a fraud detection alert in banking.</a:t>
            </a:r>
          </a:p>
        </p:txBody>
      </p:sp>
      <p:sp>
        <p:nvSpPr>
          <p:cNvPr id="11" name="TextBox 11"/>
          <p:cNvSpPr txBox="1"/>
          <p:nvPr/>
        </p:nvSpPr>
        <p:spPr>
          <a:xfrm>
            <a:off x="7130165" y="4626400"/>
            <a:ext cx="10645526" cy="847725"/>
          </a:xfrm>
          <a:prstGeom prst="rect">
            <a:avLst/>
          </a:prstGeom>
        </p:spPr>
        <p:txBody>
          <a:bodyPr lIns="0" tIns="0" rIns="0" bIns="0" rtlCol="0" anchor="t">
            <a:spAutoFit/>
          </a:bodyPr>
          <a:lstStyle/>
          <a:p>
            <a:pPr algn="l">
              <a:lnSpc>
                <a:spcPts val="3449"/>
              </a:lnSpc>
              <a:spcBef>
                <a:spcPct val="0"/>
              </a:spcBef>
            </a:pPr>
            <a:r>
              <a:rPr lang="en-US" sz="2499" dirty="0">
                <a:solidFill>
                  <a:srgbClr val="000000"/>
                </a:solidFill>
                <a:latin typeface="DM Sans"/>
                <a:ea typeface="DM Sans"/>
                <a:cs typeface="DM Sans"/>
                <a:sym typeface="DM Sans"/>
              </a:rPr>
              <a:t>E-KYC Providers – A verification process illustration with Aadhaar integration.</a:t>
            </a:r>
          </a:p>
        </p:txBody>
      </p:sp>
      <p:sp>
        <p:nvSpPr>
          <p:cNvPr id="12" name="TextBox 12"/>
          <p:cNvSpPr txBox="1"/>
          <p:nvPr/>
        </p:nvSpPr>
        <p:spPr>
          <a:xfrm>
            <a:off x="7068839" y="6427784"/>
            <a:ext cx="10432044" cy="847725"/>
          </a:xfrm>
          <a:prstGeom prst="rect">
            <a:avLst/>
          </a:prstGeom>
        </p:spPr>
        <p:txBody>
          <a:bodyPr lIns="0" tIns="0" rIns="0" bIns="0" rtlCol="0" anchor="t">
            <a:spAutoFit/>
          </a:bodyPr>
          <a:lstStyle/>
          <a:p>
            <a:pPr algn="l">
              <a:lnSpc>
                <a:spcPts val="3449"/>
              </a:lnSpc>
              <a:spcBef>
                <a:spcPct val="0"/>
              </a:spcBef>
            </a:pPr>
            <a:r>
              <a:rPr lang="en-US" sz="2499" dirty="0">
                <a:solidFill>
                  <a:srgbClr val="000000"/>
                </a:solidFill>
                <a:latin typeface="DM Sans"/>
                <a:ea typeface="DM Sans"/>
                <a:cs typeface="DM Sans"/>
                <a:sym typeface="DM Sans"/>
              </a:rPr>
              <a:t>Corporate HR Systems – An employee ID verification process image, possibly showing Aadhaar-based authentication.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57800" y="3771900"/>
            <a:ext cx="6508314" cy="1527810"/>
          </a:xfrm>
          <a:prstGeom prst="rect">
            <a:avLst/>
          </a:prstGeom>
        </p:spPr>
        <p:txBody>
          <a:bodyPr lIns="0" tIns="0" rIns="0" bIns="0" rtlCol="0" anchor="t">
            <a:spAutoFit/>
          </a:bodyPr>
          <a:lstStyle/>
          <a:p>
            <a:pPr algn="ctr">
              <a:lnSpc>
                <a:spcPts val="12419"/>
              </a:lnSpc>
              <a:spcBef>
                <a:spcPct val="0"/>
              </a:spcBef>
            </a:pPr>
            <a:r>
              <a:rPr lang="en-US" sz="9000" b="1" dirty="0">
                <a:solidFill>
                  <a:srgbClr val="645CDD"/>
                </a:solidFill>
                <a:latin typeface="DM Sans Bold"/>
                <a:ea typeface="DM Sans Bold"/>
                <a:cs typeface="DM Sans Bold"/>
                <a:sym typeface="DM Sans Bold"/>
              </a:rPr>
              <a:t>THANK YOU</a:t>
            </a:r>
          </a:p>
        </p:txBody>
      </p:sp>
      <p:sp>
        <p:nvSpPr>
          <p:cNvPr id="3" name="Freeform 3"/>
          <p:cNvSpPr/>
          <p:nvPr/>
        </p:nvSpPr>
        <p:spPr>
          <a:xfrm>
            <a:off x="-1970882" y="6221579"/>
            <a:ext cx="6325584" cy="6325584"/>
          </a:xfrm>
          <a:custGeom>
            <a:avLst/>
            <a:gdLst/>
            <a:ahLst/>
            <a:cxnLst/>
            <a:rect l="l" t="t" r="r" b="b"/>
            <a:pathLst>
              <a:path w="6325584" h="6325584">
                <a:moveTo>
                  <a:pt x="0" y="0"/>
                </a:moveTo>
                <a:lnTo>
                  <a:pt x="6325584" y="0"/>
                </a:lnTo>
                <a:lnTo>
                  <a:pt x="6325584" y="6325584"/>
                </a:lnTo>
                <a:lnTo>
                  <a:pt x="0" y="63255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08238" y="-926030"/>
            <a:ext cx="6736596" cy="6736596"/>
          </a:xfrm>
          <a:custGeom>
            <a:avLst/>
            <a:gdLst/>
            <a:ahLst/>
            <a:cxnLst/>
            <a:rect l="l" t="t" r="r" b="b"/>
            <a:pathLst>
              <a:path w="6736596" h="6736596">
                <a:moveTo>
                  <a:pt x="0" y="0"/>
                </a:moveTo>
                <a:lnTo>
                  <a:pt x="6736596" y="0"/>
                </a:lnTo>
                <a:lnTo>
                  <a:pt x="6736596" y="6736597"/>
                </a:lnTo>
                <a:lnTo>
                  <a:pt x="0" y="67365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959</Words>
  <Application>Microsoft Office PowerPoint</Application>
  <PresentationFormat>Custom</PresentationFormat>
  <Paragraphs>95</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DM Sans Bold Italics</vt:lpstr>
      <vt:lpstr>Arial</vt:lpstr>
      <vt:lpstr>DM Sans Italics</vt:lpstr>
      <vt:lpstr>Now Bold</vt:lpstr>
      <vt:lpstr>DM Sans</vt:lpstr>
      <vt:lpstr>Calibri</vt:lpstr>
      <vt:lpstr>DM Sans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Dark Professional Geometric Business Project Presentation</dc:title>
  <dc:creator>Mahi Attri</dc:creator>
  <cp:lastModifiedBy>Mahi Attri</cp:lastModifiedBy>
  <cp:revision>2</cp:revision>
  <dcterms:created xsi:type="dcterms:W3CDTF">2006-08-16T00:00:00Z</dcterms:created>
  <dcterms:modified xsi:type="dcterms:W3CDTF">2025-03-13T16:55:34Z</dcterms:modified>
  <dc:identifier>DAGhmMgFfNY</dc:identifier>
</cp:coreProperties>
</file>